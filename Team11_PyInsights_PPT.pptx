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hivo Black" charset="1" panose="020B0A03020202020B04"/>
      <p:regular r:id="rId18"/>
    </p:embeddedFont>
    <p:embeddedFont>
      <p:font typeface="Poppins Bold" charset="1" panose="00000800000000000000"/>
      <p:regular r:id="rId19"/>
    </p:embeddedFont>
    <p:embeddedFont>
      <p:font typeface="Glacial Indifference Italics" charset="1" panose="00000000000000000000"/>
      <p:regular r:id="rId20"/>
    </p:embeddedFont>
    <p:embeddedFont>
      <p:font typeface="Poppins Italics" charset="1" panose="00000500000000000000"/>
      <p:regular r:id="rId21"/>
    </p:embeddedFont>
    <p:embeddedFont>
      <p:font typeface="Calibri (MS) Bold" charset="1" panose="020F0702030404030204"/>
      <p:regular r:id="rId22"/>
    </p:embeddedFont>
    <p:embeddedFont>
      <p:font typeface="Cambria Bold" charset="1" panose="02040803050406030204"/>
      <p:regular r:id="rId23"/>
    </p:embeddedFont>
    <p:embeddedFont>
      <p:font typeface="Calibri (MS)" charset="1" panose="020F0502020204030204"/>
      <p:regular r:id="rId24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6.jpeg" Type="http://schemas.openxmlformats.org/officeDocument/2006/relationships/image"/><Relationship Id="rId12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6.jpe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29614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069172" y="1775486"/>
            <a:ext cx="7190128" cy="7085162"/>
          </a:xfrm>
          <a:custGeom>
            <a:avLst/>
            <a:gdLst/>
            <a:ahLst/>
            <a:cxnLst/>
            <a:rect r="r" b="b" t="t" l="l"/>
            <a:pathLst>
              <a:path h="7085162" w="7190128">
                <a:moveTo>
                  <a:pt x="0" y="0"/>
                </a:moveTo>
                <a:lnTo>
                  <a:pt x="7190128" y="0"/>
                </a:lnTo>
                <a:lnTo>
                  <a:pt x="7190128" y="7085162"/>
                </a:lnTo>
                <a:lnTo>
                  <a:pt x="0" y="7085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18346" y="2546981"/>
            <a:ext cx="4321642" cy="6189852"/>
          </a:xfrm>
          <a:custGeom>
            <a:avLst/>
            <a:gdLst/>
            <a:ahLst/>
            <a:cxnLst/>
            <a:rect r="r" b="b" t="t" l="l"/>
            <a:pathLst>
              <a:path h="6189852" w="4321642">
                <a:moveTo>
                  <a:pt x="0" y="0"/>
                </a:moveTo>
                <a:lnTo>
                  <a:pt x="4321642" y="0"/>
                </a:lnTo>
                <a:lnTo>
                  <a:pt x="4321642" y="6189852"/>
                </a:lnTo>
                <a:lnTo>
                  <a:pt x="0" y="6189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43279" y="2742383"/>
            <a:ext cx="9475067" cy="124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3"/>
              </a:lnSpc>
            </a:pPr>
            <a:r>
              <a:rPr lang="en-US" sz="8879">
                <a:solidFill>
                  <a:srgbClr val="CD4146"/>
                </a:solidFill>
                <a:latin typeface="Archivo Black"/>
                <a:ea typeface="Archivo Black"/>
                <a:cs typeface="Archivo Black"/>
                <a:sym typeface="Archivo Black"/>
              </a:rPr>
              <a:t>PyIn</a:t>
            </a:r>
            <a:r>
              <a:rPr lang="en-US" sz="8879" strike="noStrike" u="none">
                <a:solidFill>
                  <a:srgbClr val="CD4146"/>
                </a:solidFill>
                <a:latin typeface="Archivo Black"/>
                <a:ea typeface="Archivo Black"/>
                <a:cs typeface="Archivo Black"/>
                <a:sym typeface="Archivo Black"/>
              </a:rPr>
              <a:t>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3279" y="6985588"/>
            <a:ext cx="9100628" cy="35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PARTICIPANTS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3279" y="4245700"/>
            <a:ext cx="8342720" cy="79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i="true">
                <a:solidFill>
                  <a:srgbClr val="0A0147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What can admissi</a:t>
            </a:r>
            <a:r>
              <a:rPr lang="en-US" sz="2299" i="true">
                <a:solidFill>
                  <a:srgbClr val="0A0147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on day tell us? Finding heart-failure patients at risk of readmission, a long stay, or death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99210" y="1378330"/>
            <a:ext cx="13872565" cy="39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b="true" sz="2294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TEAM 11 </a:t>
            </a:r>
            <a:r>
              <a:rPr lang="en-US" b="true" sz="2294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 ·  P</a:t>
            </a:r>
            <a:r>
              <a:rPr lang="en-US" b="true" sz="2294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YTHON HACKATHON  ·  SEPTEMBER 2026  ·  ANALYSIS DEMO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279" y="5840503"/>
            <a:ext cx="8202086" cy="32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i="true">
                <a:solidFill>
                  <a:srgbClr val="0A014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Zig</a:t>
            </a:r>
            <a:r>
              <a:rPr lang="en-US" sz="1800" i="true">
                <a:solidFill>
                  <a:srgbClr val="0A014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ong Heart Failure dataset (PhysioNet) · 2,008 hospitalized patients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27066" y="7729824"/>
            <a:ext cx="2283998" cy="1007009"/>
            <a:chOff x="0" y="0"/>
            <a:chExt cx="601547" cy="2652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1547" cy="265220"/>
            </a:xfrm>
            <a:custGeom>
              <a:avLst/>
              <a:gdLst/>
              <a:ahLst/>
              <a:cxnLst/>
              <a:rect r="r" b="b" t="t" l="l"/>
              <a:pathLst>
                <a:path h="265220" w="601547">
                  <a:moveTo>
                    <a:pt x="128806" y="0"/>
                  </a:moveTo>
                  <a:lnTo>
                    <a:pt x="472741" y="0"/>
                  </a:lnTo>
                  <a:cubicBezTo>
                    <a:pt x="543878" y="0"/>
                    <a:pt x="601547" y="57668"/>
                    <a:pt x="601547" y="128806"/>
                  </a:cubicBezTo>
                  <a:lnTo>
                    <a:pt x="601547" y="136414"/>
                  </a:lnTo>
                  <a:cubicBezTo>
                    <a:pt x="601547" y="207552"/>
                    <a:pt x="543878" y="265220"/>
                    <a:pt x="472741" y="265220"/>
                  </a:cubicBezTo>
                  <a:lnTo>
                    <a:pt x="128806" y="265220"/>
                  </a:lnTo>
                  <a:cubicBezTo>
                    <a:pt x="57668" y="265220"/>
                    <a:pt x="0" y="207552"/>
                    <a:pt x="0" y="136414"/>
                  </a:cubicBezTo>
                  <a:lnTo>
                    <a:pt x="0" y="128806"/>
                  </a:lnTo>
                  <a:cubicBezTo>
                    <a:pt x="0" y="57668"/>
                    <a:pt x="57668" y="0"/>
                    <a:pt x="128806" y="0"/>
                  </a:cubicBezTo>
                  <a:close/>
                </a:path>
              </a:pathLst>
            </a:custGeom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01547" cy="32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C8102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Dhivya Gopinathan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09595" y="7729824"/>
            <a:ext cx="2283998" cy="1007009"/>
            <a:chOff x="0" y="0"/>
            <a:chExt cx="601547" cy="2652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1547" cy="265220"/>
            </a:xfrm>
            <a:custGeom>
              <a:avLst/>
              <a:gdLst/>
              <a:ahLst/>
              <a:cxnLst/>
              <a:rect r="r" b="b" t="t" l="l"/>
              <a:pathLst>
                <a:path h="265220" w="601547">
                  <a:moveTo>
                    <a:pt x="128806" y="0"/>
                  </a:moveTo>
                  <a:lnTo>
                    <a:pt x="472741" y="0"/>
                  </a:lnTo>
                  <a:cubicBezTo>
                    <a:pt x="543878" y="0"/>
                    <a:pt x="601547" y="57668"/>
                    <a:pt x="601547" y="128806"/>
                  </a:cubicBezTo>
                  <a:lnTo>
                    <a:pt x="601547" y="136414"/>
                  </a:lnTo>
                  <a:cubicBezTo>
                    <a:pt x="601547" y="207552"/>
                    <a:pt x="543878" y="265220"/>
                    <a:pt x="472741" y="265220"/>
                  </a:cubicBezTo>
                  <a:lnTo>
                    <a:pt x="128806" y="265220"/>
                  </a:lnTo>
                  <a:cubicBezTo>
                    <a:pt x="57668" y="265220"/>
                    <a:pt x="0" y="207552"/>
                    <a:pt x="0" y="136414"/>
                  </a:cubicBezTo>
                  <a:lnTo>
                    <a:pt x="0" y="128806"/>
                  </a:lnTo>
                  <a:cubicBezTo>
                    <a:pt x="0" y="57668"/>
                    <a:pt x="57668" y="0"/>
                    <a:pt x="128806" y="0"/>
                  </a:cubicBezTo>
                  <a:close/>
                </a:path>
              </a:pathLst>
            </a:custGeom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01547" cy="32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C8102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Lakshmi Panchagnula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80812" y="7729824"/>
            <a:ext cx="2283998" cy="1007009"/>
            <a:chOff x="0" y="0"/>
            <a:chExt cx="601547" cy="2652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1547" cy="265220"/>
            </a:xfrm>
            <a:custGeom>
              <a:avLst/>
              <a:gdLst/>
              <a:ahLst/>
              <a:cxnLst/>
              <a:rect r="r" b="b" t="t" l="l"/>
              <a:pathLst>
                <a:path h="265220" w="601547">
                  <a:moveTo>
                    <a:pt x="128806" y="0"/>
                  </a:moveTo>
                  <a:lnTo>
                    <a:pt x="472741" y="0"/>
                  </a:lnTo>
                  <a:cubicBezTo>
                    <a:pt x="543878" y="0"/>
                    <a:pt x="601547" y="57668"/>
                    <a:pt x="601547" y="128806"/>
                  </a:cubicBezTo>
                  <a:lnTo>
                    <a:pt x="601547" y="136414"/>
                  </a:lnTo>
                  <a:cubicBezTo>
                    <a:pt x="601547" y="207552"/>
                    <a:pt x="543878" y="265220"/>
                    <a:pt x="472741" y="265220"/>
                  </a:cubicBezTo>
                  <a:lnTo>
                    <a:pt x="128806" y="265220"/>
                  </a:lnTo>
                  <a:cubicBezTo>
                    <a:pt x="57668" y="265220"/>
                    <a:pt x="0" y="207552"/>
                    <a:pt x="0" y="136414"/>
                  </a:cubicBezTo>
                  <a:lnTo>
                    <a:pt x="0" y="128806"/>
                  </a:lnTo>
                  <a:cubicBezTo>
                    <a:pt x="0" y="57668"/>
                    <a:pt x="57668" y="0"/>
                    <a:pt x="128806" y="0"/>
                  </a:cubicBezTo>
                  <a:close/>
                </a:path>
              </a:pathLst>
            </a:custGeom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601547" cy="32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C8102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Shraddha Parakh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0" y="7729824"/>
            <a:ext cx="2283998" cy="1007009"/>
            <a:chOff x="0" y="0"/>
            <a:chExt cx="601547" cy="2652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1547" cy="265220"/>
            </a:xfrm>
            <a:custGeom>
              <a:avLst/>
              <a:gdLst/>
              <a:ahLst/>
              <a:cxnLst/>
              <a:rect r="r" b="b" t="t" l="l"/>
              <a:pathLst>
                <a:path h="265220" w="601547">
                  <a:moveTo>
                    <a:pt x="128806" y="0"/>
                  </a:moveTo>
                  <a:lnTo>
                    <a:pt x="472741" y="0"/>
                  </a:lnTo>
                  <a:cubicBezTo>
                    <a:pt x="543878" y="0"/>
                    <a:pt x="601547" y="57668"/>
                    <a:pt x="601547" y="128806"/>
                  </a:cubicBezTo>
                  <a:lnTo>
                    <a:pt x="601547" y="136414"/>
                  </a:lnTo>
                  <a:cubicBezTo>
                    <a:pt x="601547" y="207552"/>
                    <a:pt x="543878" y="265220"/>
                    <a:pt x="472741" y="265220"/>
                  </a:cubicBezTo>
                  <a:lnTo>
                    <a:pt x="128806" y="265220"/>
                  </a:lnTo>
                  <a:cubicBezTo>
                    <a:pt x="57668" y="265220"/>
                    <a:pt x="0" y="207552"/>
                    <a:pt x="0" y="136414"/>
                  </a:cubicBezTo>
                  <a:lnTo>
                    <a:pt x="0" y="128806"/>
                  </a:lnTo>
                  <a:cubicBezTo>
                    <a:pt x="0" y="57668"/>
                    <a:pt x="57668" y="0"/>
                    <a:pt x="128806" y="0"/>
                  </a:cubicBezTo>
                  <a:close/>
                </a:path>
              </a:pathLst>
            </a:custGeom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01547" cy="32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C8102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Swadhika Selvaraj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43279" y="1353171"/>
            <a:ext cx="506319" cy="506319"/>
            <a:chOff x="0" y="0"/>
            <a:chExt cx="1253071" cy="1253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20708" y="3356384"/>
            <a:ext cx="16875123" cy="6727172"/>
            <a:chOff x="0" y="0"/>
            <a:chExt cx="4444477" cy="1771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4477" cy="1771765"/>
            </a:xfrm>
            <a:custGeom>
              <a:avLst/>
              <a:gdLst/>
              <a:ahLst/>
              <a:cxnLst/>
              <a:rect r="r" b="b" t="t" l="l"/>
              <a:pathLst>
                <a:path h="1771765" w="4444477">
                  <a:moveTo>
                    <a:pt x="23398" y="0"/>
                  </a:moveTo>
                  <a:lnTo>
                    <a:pt x="4421079" y="0"/>
                  </a:lnTo>
                  <a:cubicBezTo>
                    <a:pt x="4427285" y="0"/>
                    <a:pt x="4433236" y="2465"/>
                    <a:pt x="4437624" y="6853"/>
                  </a:cubicBezTo>
                  <a:cubicBezTo>
                    <a:pt x="4442012" y="11241"/>
                    <a:pt x="4444477" y="17192"/>
                    <a:pt x="4444477" y="23398"/>
                  </a:cubicBezTo>
                  <a:lnTo>
                    <a:pt x="4444477" y="1748368"/>
                  </a:lnTo>
                  <a:cubicBezTo>
                    <a:pt x="4444477" y="1754573"/>
                    <a:pt x="4442012" y="1760525"/>
                    <a:pt x="4437624" y="1764912"/>
                  </a:cubicBezTo>
                  <a:cubicBezTo>
                    <a:pt x="4433236" y="1769300"/>
                    <a:pt x="4427285" y="1771765"/>
                    <a:pt x="4421079" y="1771765"/>
                  </a:cubicBezTo>
                  <a:lnTo>
                    <a:pt x="23398" y="1771765"/>
                  </a:lnTo>
                  <a:cubicBezTo>
                    <a:pt x="17192" y="1771765"/>
                    <a:pt x="11241" y="1769300"/>
                    <a:pt x="6853" y="1764912"/>
                  </a:cubicBezTo>
                  <a:cubicBezTo>
                    <a:pt x="2465" y="1760525"/>
                    <a:pt x="0" y="1754573"/>
                    <a:pt x="0" y="1748368"/>
                  </a:cubicBezTo>
                  <a:lnTo>
                    <a:pt x="0" y="23398"/>
                  </a:lnTo>
                  <a:cubicBezTo>
                    <a:pt x="0" y="17192"/>
                    <a:pt x="2465" y="11241"/>
                    <a:pt x="6853" y="6853"/>
                  </a:cubicBezTo>
                  <a:cubicBezTo>
                    <a:pt x="11241" y="2465"/>
                    <a:pt x="17192" y="0"/>
                    <a:pt x="23398" y="0"/>
                  </a:cubicBezTo>
                  <a:close/>
                </a:path>
              </a:pathLst>
            </a:custGeom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444477" cy="1828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679113" y="-1980182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65168" y="592778"/>
            <a:ext cx="36013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pc="399" strike="noStrike" u="none">
                <a:solidFill>
                  <a:srgbClr val="C810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ABOUT THE DATASET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11110" y="423043"/>
            <a:ext cx="793499" cy="793499"/>
            <a:chOff x="0" y="0"/>
            <a:chExt cx="1057999" cy="1057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736513" y="423043"/>
            <a:ext cx="768096" cy="768096"/>
            <a:chOff x="0" y="0"/>
            <a:chExt cx="1024128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47714" y="1309977"/>
            <a:ext cx="12670912" cy="7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Seven linked tables, one story per patient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834640" y="2395790"/>
            <a:ext cx="12618720" cy="585216"/>
            <a:chOff x="0" y="0"/>
            <a:chExt cx="1682496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1" cy="780288"/>
            </a:xfrm>
            <a:custGeom>
              <a:avLst/>
              <a:gdLst/>
              <a:ahLst/>
              <a:cxnLst/>
              <a:rect r="r" b="b" t="t" l="l"/>
              <a:pathLst>
                <a:path h="780288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8016" r="-30434" b="-4980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68249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A0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Hospitalized Patients with Heart Failure, Zigong Fourth People's Hospital, China (PhysioNet v1.3)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153570" y="3688624"/>
          <a:ext cx="11024586" cy="5508081"/>
        </p:xfrm>
        <a:graphic>
          <a:graphicData uri="http://schemas.openxmlformats.org/drawingml/2006/table">
            <a:tbl>
              <a:tblPr/>
              <a:tblGrid>
                <a:gridCol w="3233172"/>
                <a:gridCol w="1238339"/>
                <a:gridCol w="891411"/>
                <a:gridCol w="5661664"/>
              </a:tblGrid>
              <a:tr h="652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Table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Rows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it holds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2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Demography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2,009*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Age group, gender, height, weight, BMI, occupation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3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Hospitalization &amp; discharge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2,008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Admission route, NYHA class, Killip grade, stay, outcomes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Cardiac complications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2,008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Heart-failure type, echo results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Labs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2,008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107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BNP, kidney function (GFR), sodium, ~100 tests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Patient history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2,008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17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Comorbidities (diabetes, CKD, COPD), Charlson score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Responsiveness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2,008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Glasgow coma scale, consciousness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0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Prescriptions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15,362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Drugs given (many rows per patient)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1153570" y="9535416"/>
            <a:ext cx="16459200" cy="457200"/>
            <a:chOff x="0" y="0"/>
            <a:chExt cx="21945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1E253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*One invalid demography record removed in cleaning; all tables joined on inpatient_number.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68802" y="3688624"/>
            <a:ext cx="4228709" cy="1706084"/>
            <a:chOff x="0" y="0"/>
            <a:chExt cx="5886031" cy="23747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85942" cy="2374773"/>
            </a:xfrm>
            <a:custGeom>
              <a:avLst/>
              <a:gdLst/>
              <a:ahLst/>
              <a:cxnLst/>
              <a:rect r="r" b="b" t="t" l="l"/>
              <a:pathLst>
                <a:path h="2374773" w="588594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5688076" y="0"/>
                  </a:lnTo>
                  <a:cubicBezTo>
                    <a:pt x="5797423" y="0"/>
                    <a:pt x="5885942" y="88646"/>
                    <a:pt x="5885942" y="197866"/>
                  </a:cubicBezTo>
                  <a:lnTo>
                    <a:pt x="5885942" y="2176907"/>
                  </a:lnTo>
                  <a:cubicBezTo>
                    <a:pt x="5885942" y="2286254"/>
                    <a:pt x="5797296" y="2374773"/>
                    <a:pt x="5688076" y="2374773"/>
                  </a:cubicBezTo>
                  <a:lnTo>
                    <a:pt x="197866" y="2374773"/>
                  </a:lnTo>
                  <a:cubicBezTo>
                    <a:pt x="88646" y="2374773"/>
                    <a:pt x="0" y="2286127"/>
                    <a:pt x="0" y="2176907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357031" y="2981006"/>
            <a:ext cx="3840480" cy="2492222"/>
            <a:chOff x="0" y="0"/>
            <a:chExt cx="5120640" cy="33229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3322963"/>
            </a:xfrm>
            <a:custGeom>
              <a:avLst/>
              <a:gdLst/>
              <a:ahLst/>
              <a:cxnLst/>
              <a:rect r="r" b="b" t="t" l="l"/>
              <a:pathLst>
                <a:path h="3322963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322963"/>
                  </a:lnTo>
                  <a:lnTo>
                    <a:pt x="0" y="33229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47" r="0" b="508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120640" cy="3332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80"/>
                </a:lnSpc>
              </a:pPr>
              <a:r>
                <a:rPr lang="en-US" sz="34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2,008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357031" y="4537379"/>
            <a:ext cx="3840480" cy="71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patients admitted for heart failure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968802" y="5663728"/>
            <a:ext cx="4228709" cy="1706084"/>
            <a:chOff x="0" y="0"/>
            <a:chExt cx="5886031" cy="23747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85942" cy="2374773"/>
            </a:xfrm>
            <a:custGeom>
              <a:avLst/>
              <a:gdLst/>
              <a:ahLst/>
              <a:cxnLst/>
              <a:rect r="r" b="b" t="t" l="l"/>
              <a:pathLst>
                <a:path h="2374773" w="588594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5688076" y="0"/>
                  </a:lnTo>
                  <a:cubicBezTo>
                    <a:pt x="5797423" y="0"/>
                    <a:pt x="5885942" y="88646"/>
                    <a:pt x="5885942" y="197866"/>
                  </a:cubicBezTo>
                  <a:lnTo>
                    <a:pt x="5885942" y="2176907"/>
                  </a:lnTo>
                  <a:cubicBezTo>
                    <a:pt x="5885942" y="2286254"/>
                    <a:pt x="5797296" y="2374773"/>
                    <a:pt x="5688076" y="2374773"/>
                  </a:cubicBezTo>
                  <a:lnTo>
                    <a:pt x="197866" y="2374773"/>
                  </a:lnTo>
                  <a:cubicBezTo>
                    <a:pt x="88646" y="2374773"/>
                    <a:pt x="0" y="2286127"/>
                    <a:pt x="0" y="2176907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357031" y="5029716"/>
            <a:ext cx="2152402" cy="2415063"/>
            <a:chOff x="0" y="0"/>
            <a:chExt cx="2869870" cy="32200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69870" cy="3220084"/>
            </a:xfrm>
            <a:custGeom>
              <a:avLst/>
              <a:gdLst/>
              <a:ahLst/>
              <a:cxnLst/>
              <a:rect r="r" b="b" t="t" l="l"/>
              <a:pathLst>
                <a:path h="3220084" w="2869870">
                  <a:moveTo>
                    <a:pt x="0" y="0"/>
                  </a:moveTo>
                  <a:lnTo>
                    <a:pt x="2869870" y="0"/>
                  </a:lnTo>
                  <a:lnTo>
                    <a:pt x="2869870" y="3220084"/>
                  </a:lnTo>
                  <a:lnTo>
                    <a:pt x="0" y="32200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297" r="-78427" b="493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869870" cy="3229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168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357031" y="6672345"/>
            <a:ext cx="3840480" cy="38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clinical variables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968802" y="7638832"/>
            <a:ext cx="4228709" cy="1706084"/>
            <a:chOff x="0" y="0"/>
            <a:chExt cx="5886031" cy="237473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85942" cy="2374773"/>
            </a:xfrm>
            <a:custGeom>
              <a:avLst/>
              <a:gdLst/>
              <a:ahLst/>
              <a:cxnLst/>
              <a:rect r="r" b="b" t="t" l="l"/>
              <a:pathLst>
                <a:path h="2374773" w="588594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5688076" y="0"/>
                  </a:lnTo>
                  <a:cubicBezTo>
                    <a:pt x="5797423" y="0"/>
                    <a:pt x="5885942" y="88646"/>
                    <a:pt x="5885942" y="197866"/>
                  </a:cubicBezTo>
                  <a:lnTo>
                    <a:pt x="5885942" y="2176907"/>
                  </a:lnTo>
                  <a:cubicBezTo>
                    <a:pt x="5885942" y="2286254"/>
                    <a:pt x="5797296" y="2374773"/>
                    <a:pt x="5688076" y="2374773"/>
                  </a:cubicBezTo>
                  <a:lnTo>
                    <a:pt x="197866" y="2374773"/>
                  </a:lnTo>
                  <a:cubicBezTo>
                    <a:pt x="88646" y="2374773"/>
                    <a:pt x="0" y="2286127"/>
                    <a:pt x="0" y="2176907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357031" y="7196194"/>
            <a:ext cx="3608318" cy="2415063"/>
            <a:chOff x="0" y="0"/>
            <a:chExt cx="7297016" cy="48839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97017" cy="4883925"/>
            </a:xfrm>
            <a:custGeom>
              <a:avLst/>
              <a:gdLst/>
              <a:ahLst/>
              <a:cxnLst/>
              <a:rect r="r" b="b" t="t" l="l"/>
              <a:pathLst>
                <a:path h="4883925" w="7297017">
                  <a:moveTo>
                    <a:pt x="0" y="0"/>
                  </a:moveTo>
                  <a:lnTo>
                    <a:pt x="7297017" y="0"/>
                  </a:lnTo>
                  <a:lnTo>
                    <a:pt x="7297017" y="4883925"/>
                  </a:lnTo>
                  <a:lnTo>
                    <a:pt x="0" y="48839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48" r="29825" b="665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7297016" cy="489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2016–19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357031" y="8644929"/>
            <a:ext cx="3840480" cy="38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admissions, Dec 2016 to Jun 2019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67170" y="-3194657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88608" y="6714885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01703" y="535943"/>
            <a:ext cx="793499" cy="793499"/>
            <a:chOff x="0" y="0"/>
            <a:chExt cx="1057999" cy="10579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768096" cy="768096"/>
            <a:chOff x="0" y="0"/>
            <a:chExt cx="1024128" cy="102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65376" y="548640"/>
            <a:ext cx="14630400" cy="768096"/>
            <a:chOff x="0" y="0"/>
            <a:chExt cx="19507200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507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QUESTION AND APPROACH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1575445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One question, answered in five steps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" y="2450592"/>
            <a:ext cx="16459200" cy="585216"/>
            <a:chOff x="0" y="0"/>
            <a:chExt cx="219456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A0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stage answered a question that shaped the next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3370583"/>
            <a:ext cx="3134363" cy="5054603"/>
            <a:chOff x="0" y="0"/>
            <a:chExt cx="4179151" cy="67394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9189" cy="6739509"/>
            </a:xfrm>
            <a:custGeom>
              <a:avLst/>
              <a:gdLst/>
              <a:ahLst/>
              <a:cxnLst/>
              <a:rect r="r" b="b" t="t" l="l"/>
              <a:pathLst>
                <a:path h="6739509" w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3982466" y="0"/>
                  </a:lnTo>
                  <a:cubicBezTo>
                    <a:pt x="4091051" y="0"/>
                    <a:pt x="4179189" y="88011"/>
                    <a:pt x="4179189" y="196723"/>
                  </a:cubicBezTo>
                  <a:lnTo>
                    <a:pt x="4179189" y="6542786"/>
                  </a:lnTo>
                  <a:cubicBezTo>
                    <a:pt x="4179189" y="6651371"/>
                    <a:pt x="4091178" y="6739509"/>
                    <a:pt x="3982466" y="6739509"/>
                  </a:cubicBezTo>
                  <a:lnTo>
                    <a:pt x="196723" y="6739509"/>
                  </a:lnTo>
                  <a:cubicBezTo>
                    <a:pt x="88011" y="6739509"/>
                    <a:pt x="0" y="6651371"/>
                    <a:pt x="0" y="6542786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76023" y="3644903"/>
            <a:ext cx="793499" cy="793499"/>
            <a:chOff x="0" y="0"/>
            <a:chExt cx="1057999" cy="10579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88720" y="3657600"/>
            <a:ext cx="768096" cy="768096"/>
            <a:chOff x="0" y="0"/>
            <a:chExt cx="1024128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" y="4663440"/>
            <a:ext cx="2651760" cy="640080"/>
            <a:chOff x="0" y="0"/>
            <a:chExt cx="353568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535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Clean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88720" y="5310759"/>
            <a:ext cx="26517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Can we trust the data?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8720" y="6718935"/>
            <a:ext cx="265176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25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Yes, after fixing proven errors only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266695" y="3370583"/>
            <a:ext cx="3134363" cy="5054603"/>
            <a:chOff x="0" y="0"/>
            <a:chExt cx="4179151" cy="67394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79189" cy="6739509"/>
            </a:xfrm>
            <a:custGeom>
              <a:avLst/>
              <a:gdLst/>
              <a:ahLst/>
              <a:cxnLst/>
              <a:rect r="r" b="b" t="t" l="l"/>
              <a:pathLst>
                <a:path h="6739509" w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3982466" y="0"/>
                  </a:lnTo>
                  <a:cubicBezTo>
                    <a:pt x="4091051" y="0"/>
                    <a:pt x="4179189" y="88011"/>
                    <a:pt x="4179189" y="196723"/>
                  </a:cubicBezTo>
                  <a:lnTo>
                    <a:pt x="4179189" y="6542786"/>
                  </a:lnTo>
                  <a:cubicBezTo>
                    <a:pt x="4179189" y="6651371"/>
                    <a:pt x="4091178" y="6739509"/>
                    <a:pt x="3982466" y="6739509"/>
                  </a:cubicBezTo>
                  <a:lnTo>
                    <a:pt x="196723" y="6739509"/>
                  </a:lnTo>
                  <a:cubicBezTo>
                    <a:pt x="88011" y="6739509"/>
                    <a:pt x="0" y="6651371"/>
                    <a:pt x="0" y="6542786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541015" y="3644903"/>
            <a:ext cx="793499" cy="793499"/>
            <a:chOff x="0" y="0"/>
            <a:chExt cx="1057999" cy="1057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553712" y="3657600"/>
            <a:ext cx="768096" cy="768096"/>
            <a:chOff x="0" y="0"/>
            <a:chExt cx="1024128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553712" y="4663440"/>
            <a:ext cx="2651760" cy="640080"/>
            <a:chOff x="0" y="0"/>
            <a:chExt cx="353568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535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Describe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553712" y="5310759"/>
            <a:ext cx="26517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What does the cohort look like?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553712" y="6718935"/>
            <a:ext cx="265176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25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Readmission, not death, is the burden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631687" y="3370583"/>
            <a:ext cx="3134363" cy="5054603"/>
            <a:chOff x="0" y="0"/>
            <a:chExt cx="4179151" cy="67394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79189" cy="6739509"/>
            </a:xfrm>
            <a:custGeom>
              <a:avLst/>
              <a:gdLst/>
              <a:ahLst/>
              <a:cxnLst/>
              <a:rect r="r" b="b" t="t" l="l"/>
              <a:pathLst>
                <a:path h="6739509" w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3982466" y="0"/>
                  </a:lnTo>
                  <a:cubicBezTo>
                    <a:pt x="4091051" y="0"/>
                    <a:pt x="4179189" y="88011"/>
                    <a:pt x="4179189" y="196723"/>
                  </a:cubicBezTo>
                  <a:lnTo>
                    <a:pt x="4179189" y="6542786"/>
                  </a:lnTo>
                  <a:cubicBezTo>
                    <a:pt x="4179189" y="6651371"/>
                    <a:pt x="4091178" y="6739509"/>
                    <a:pt x="3982466" y="6739509"/>
                  </a:cubicBezTo>
                  <a:lnTo>
                    <a:pt x="196723" y="6739509"/>
                  </a:lnTo>
                  <a:cubicBezTo>
                    <a:pt x="88011" y="6739509"/>
                    <a:pt x="0" y="6651371"/>
                    <a:pt x="0" y="6542786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6D49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906007" y="3644903"/>
            <a:ext cx="793499" cy="793499"/>
            <a:chOff x="0" y="0"/>
            <a:chExt cx="1057999" cy="10579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918704" y="3657600"/>
            <a:ext cx="768096" cy="768096"/>
            <a:chOff x="0" y="0"/>
            <a:chExt cx="1024128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918704" y="4663440"/>
            <a:ext cx="2651760" cy="640080"/>
            <a:chOff x="0" y="0"/>
            <a:chExt cx="353568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535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Relate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7918704" y="5310759"/>
            <a:ext cx="26517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Which markers go with readmission?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18704" y="6718935"/>
            <a:ext cx="265176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25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Severity, kidney function, comorbidity, sodium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996679" y="3370583"/>
            <a:ext cx="3134363" cy="5054603"/>
            <a:chOff x="0" y="0"/>
            <a:chExt cx="4179151" cy="67394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79189" cy="6739509"/>
            </a:xfrm>
            <a:custGeom>
              <a:avLst/>
              <a:gdLst/>
              <a:ahLst/>
              <a:cxnLst/>
              <a:rect r="r" b="b" t="t" l="l"/>
              <a:pathLst>
                <a:path h="6739509" w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3982466" y="0"/>
                  </a:lnTo>
                  <a:cubicBezTo>
                    <a:pt x="4091051" y="0"/>
                    <a:pt x="4179189" y="88011"/>
                    <a:pt x="4179189" y="196723"/>
                  </a:cubicBezTo>
                  <a:lnTo>
                    <a:pt x="4179189" y="6542786"/>
                  </a:lnTo>
                  <a:cubicBezTo>
                    <a:pt x="4179189" y="6651371"/>
                    <a:pt x="4091178" y="6739509"/>
                    <a:pt x="3982466" y="6739509"/>
                  </a:cubicBezTo>
                  <a:lnTo>
                    <a:pt x="196723" y="6739509"/>
                  </a:lnTo>
                  <a:cubicBezTo>
                    <a:pt x="88011" y="6739509"/>
                    <a:pt x="0" y="6651371"/>
                    <a:pt x="0" y="6542786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270999" y="3644903"/>
            <a:ext cx="793499" cy="793499"/>
            <a:chOff x="0" y="0"/>
            <a:chExt cx="1057999" cy="10579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283696" y="3657600"/>
            <a:ext cx="768096" cy="768096"/>
            <a:chOff x="0" y="0"/>
            <a:chExt cx="1024128" cy="10241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283696" y="4663440"/>
            <a:ext cx="2651760" cy="640080"/>
            <a:chOff x="0" y="0"/>
            <a:chExt cx="353568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535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Predict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1283696" y="5310759"/>
            <a:ext cx="26517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Can admission data flag risk?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283696" y="6718935"/>
            <a:ext cx="265176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25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Death well (AUC 0.80); readmission only weakly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4361671" y="3370583"/>
            <a:ext cx="3134363" cy="5054603"/>
            <a:chOff x="0" y="0"/>
            <a:chExt cx="4179151" cy="67394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79189" cy="6739509"/>
            </a:xfrm>
            <a:custGeom>
              <a:avLst/>
              <a:gdLst/>
              <a:ahLst/>
              <a:cxnLst/>
              <a:rect r="r" b="b" t="t" l="l"/>
              <a:pathLst>
                <a:path h="6739509" w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3982466" y="0"/>
                  </a:lnTo>
                  <a:cubicBezTo>
                    <a:pt x="4091051" y="0"/>
                    <a:pt x="4179189" y="88011"/>
                    <a:pt x="4179189" y="196723"/>
                  </a:cubicBezTo>
                  <a:lnTo>
                    <a:pt x="4179189" y="6542786"/>
                  </a:lnTo>
                  <a:cubicBezTo>
                    <a:pt x="4179189" y="6651371"/>
                    <a:pt x="4091178" y="6739509"/>
                    <a:pt x="3982466" y="6739509"/>
                  </a:cubicBezTo>
                  <a:lnTo>
                    <a:pt x="196723" y="6739509"/>
                  </a:lnTo>
                  <a:cubicBezTo>
                    <a:pt x="88011" y="6739509"/>
                    <a:pt x="0" y="6651371"/>
                    <a:pt x="0" y="6542786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4635991" y="3644903"/>
            <a:ext cx="793499" cy="793499"/>
            <a:chOff x="0" y="0"/>
            <a:chExt cx="1057999" cy="105799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4648688" y="3657600"/>
            <a:ext cx="768096" cy="768096"/>
            <a:chOff x="0" y="0"/>
            <a:chExt cx="1024128" cy="10241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648688" y="4663440"/>
            <a:ext cx="2651760" cy="640080"/>
            <a:chOff x="0" y="0"/>
            <a:chExt cx="353568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535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648688" y="5310759"/>
            <a:ext cx="26517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How would a care team use it?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648688" y="6718935"/>
            <a:ext cx="265176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25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Interact</a:t>
            </a:r>
            <a:r>
              <a:rPr lang="en-US" sz="2199" b="true">
                <a:solidFill>
                  <a:srgbClr val="1E25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ive cohort views and admission-time model results.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2468885" y="8846820"/>
            <a:ext cx="14904715" cy="866072"/>
            <a:chOff x="0" y="0"/>
            <a:chExt cx="19872954" cy="115476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872954" cy="1154762"/>
            </a:xfrm>
            <a:custGeom>
              <a:avLst/>
              <a:gdLst/>
              <a:ahLst/>
              <a:cxnLst/>
              <a:rect r="r" b="b" t="t" l="l"/>
              <a:pathLst>
                <a:path h="1154762" w="19872954">
                  <a:moveTo>
                    <a:pt x="0" y="0"/>
                  </a:moveTo>
                  <a:lnTo>
                    <a:pt x="19872954" y="0"/>
                  </a:lnTo>
                  <a:lnTo>
                    <a:pt x="19872954" y="1154762"/>
                  </a:lnTo>
                  <a:lnTo>
                    <a:pt x="0" y="11547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790" r="-10429" b="-31781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9872954" cy="1202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question: </a:t>
              </a:r>
              <a:r>
                <a:rPr lang="en-US" sz="2499" i="true">
                  <a:solidFill>
                    <a:srgbClr val="1421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After a heart-failure admission, which patients are at risk, and which admission-day signals help the care team act first?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31703" y="-62461"/>
            <a:ext cx="7060104" cy="6957037"/>
          </a:xfrm>
          <a:custGeom>
            <a:avLst/>
            <a:gdLst/>
            <a:ahLst/>
            <a:cxnLst/>
            <a:rect r="r" b="b" t="t" l="l"/>
            <a:pathLst>
              <a:path h="6957037" w="7060104">
                <a:moveTo>
                  <a:pt x="0" y="0"/>
                </a:moveTo>
                <a:lnTo>
                  <a:pt x="7060105" y="0"/>
                </a:lnTo>
                <a:lnTo>
                  <a:pt x="7060105" y="6957037"/>
                </a:lnTo>
                <a:lnTo>
                  <a:pt x="0" y="6957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36503" y="1195508"/>
            <a:ext cx="5955305" cy="4948317"/>
          </a:xfrm>
          <a:custGeom>
            <a:avLst/>
            <a:gdLst/>
            <a:ahLst/>
            <a:cxnLst/>
            <a:rect r="r" b="b" t="t" l="l"/>
            <a:pathLst>
              <a:path h="4948317" w="5955305">
                <a:moveTo>
                  <a:pt x="0" y="0"/>
                </a:moveTo>
                <a:lnTo>
                  <a:pt x="5955305" y="0"/>
                </a:lnTo>
                <a:lnTo>
                  <a:pt x="5955305" y="4948317"/>
                </a:lnTo>
                <a:lnTo>
                  <a:pt x="0" y="4948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01703" y="535943"/>
            <a:ext cx="793499" cy="793499"/>
            <a:chOff x="0" y="0"/>
            <a:chExt cx="1057999" cy="10579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768096" cy="768096"/>
            <a:chOff x="0" y="0"/>
            <a:chExt cx="1024128" cy="102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65376" y="548640"/>
            <a:ext cx="14630400" cy="768096"/>
            <a:chOff x="0" y="0"/>
            <a:chExt cx="19507200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507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1 · DATA PREPROCESSING AND CLEANING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141693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Fix only what the data proves is wrong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" y="2450592"/>
            <a:ext cx="16459200" cy="585216"/>
            <a:chOff x="0" y="0"/>
            <a:chExt cx="219456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A01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change checked against the raw files and the data dictionary first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3370583"/>
            <a:ext cx="5328923" cy="2805179"/>
            <a:chOff x="0" y="0"/>
            <a:chExt cx="7105231" cy="37402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05269" cy="3740277"/>
            </a:xfrm>
            <a:custGeom>
              <a:avLst/>
              <a:gdLst/>
              <a:ahLst/>
              <a:cxnLst/>
              <a:rect r="r" b="b" t="t" l="l"/>
              <a:pathLst>
                <a:path h="3740277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543427"/>
                  </a:lnTo>
                  <a:cubicBezTo>
                    <a:pt x="7105269" y="3652139"/>
                    <a:pt x="7017131" y="3740277"/>
                    <a:pt x="6908419" y="3740277"/>
                  </a:cubicBezTo>
                  <a:lnTo>
                    <a:pt x="196850" y="3740277"/>
                  </a:lnTo>
                  <a:cubicBezTo>
                    <a:pt x="88138" y="3740277"/>
                    <a:pt x="0" y="3652139"/>
                    <a:pt x="0" y="3543427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88720" y="3602736"/>
            <a:ext cx="4754880" cy="548640"/>
            <a:chOff x="0" y="0"/>
            <a:chExt cx="63398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63398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Decimal-entry errors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8720" y="4158615"/>
            <a:ext cx="4791456" cy="191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18 mitral-valve values in 17 patients read 409 instead of 4.09. Divided by 100, then confirmed against the recorded E/A ratio.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79543" y="3370583"/>
            <a:ext cx="5328923" cy="2805179"/>
            <a:chOff x="0" y="0"/>
            <a:chExt cx="7105231" cy="37402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5269" cy="3740277"/>
            </a:xfrm>
            <a:custGeom>
              <a:avLst/>
              <a:gdLst/>
              <a:ahLst/>
              <a:cxnLst/>
              <a:rect r="r" b="b" t="t" l="l"/>
              <a:pathLst>
                <a:path h="3740277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543427"/>
                  </a:lnTo>
                  <a:cubicBezTo>
                    <a:pt x="7105269" y="3652139"/>
                    <a:pt x="7017131" y="3740277"/>
                    <a:pt x="6908419" y="3740277"/>
                  </a:cubicBezTo>
                  <a:lnTo>
                    <a:pt x="196850" y="3740277"/>
                  </a:lnTo>
                  <a:cubicBezTo>
                    <a:pt x="88138" y="3740277"/>
                    <a:pt x="0" y="3652139"/>
                    <a:pt x="0" y="3543427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766560" y="3602736"/>
            <a:ext cx="4754880" cy="548640"/>
            <a:chOff x="0" y="0"/>
            <a:chExt cx="63398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3398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Impossible values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766560" y="4158615"/>
            <a:ext cx="4791456" cy="191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1 empty patient record removed. 3 weights, 4 heights, 2 LVEDD readings and vital-sign zeros set to missing; BMI recalculated.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01703" y="6388103"/>
            <a:ext cx="5328923" cy="2805179"/>
            <a:chOff x="0" y="0"/>
            <a:chExt cx="7105231" cy="37402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05269" cy="3740277"/>
            </a:xfrm>
            <a:custGeom>
              <a:avLst/>
              <a:gdLst/>
              <a:ahLst/>
              <a:cxnLst/>
              <a:rect r="r" b="b" t="t" l="l"/>
              <a:pathLst>
                <a:path h="3740277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543427"/>
                  </a:lnTo>
                  <a:cubicBezTo>
                    <a:pt x="7105269" y="3652139"/>
                    <a:pt x="7017131" y="3740277"/>
                    <a:pt x="6908419" y="3740277"/>
                  </a:cubicBezTo>
                  <a:lnTo>
                    <a:pt x="196850" y="3740277"/>
                  </a:lnTo>
                  <a:cubicBezTo>
                    <a:pt x="88138" y="3740277"/>
                    <a:pt x="0" y="3652139"/>
                    <a:pt x="0" y="3543427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88720" y="6620256"/>
            <a:ext cx="4754880" cy="548640"/>
            <a:chOff x="0" y="0"/>
            <a:chExt cx="633984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3398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blanket imputation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88720" y="7176135"/>
            <a:ext cx="4791456" cy="191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LVEF is 68% missing, blood gases missing as a block. A missing test may never have been ordered, so we did not fill it in.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479543" y="6388103"/>
            <a:ext cx="5328923" cy="2805179"/>
            <a:chOff x="0" y="0"/>
            <a:chExt cx="7105231" cy="37402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05269" cy="3740277"/>
            </a:xfrm>
            <a:custGeom>
              <a:avLst/>
              <a:gdLst/>
              <a:ahLst/>
              <a:cxnLst/>
              <a:rect r="r" b="b" t="t" l="l"/>
              <a:pathLst>
                <a:path h="3740277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543427"/>
                  </a:lnTo>
                  <a:cubicBezTo>
                    <a:pt x="7105269" y="3652139"/>
                    <a:pt x="7017131" y="3740277"/>
                    <a:pt x="6908419" y="3740277"/>
                  </a:cubicBezTo>
                  <a:lnTo>
                    <a:pt x="196850" y="3740277"/>
                  </a:lnTo>
                  <a:cubicBezTo>
                    <a:pt x="88138" y="3740277"/>
                    <a:pt x="0" y="3652139"/>
                    <a:pt x="0" y="3543427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766560" y="6620256"/>
            <a:ext cx="4754880" cy="548640"/>
            <a:chOff x="0" y="0"/>
            <a:chExt cx="633984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3398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Rebuilt a broken file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766560" y="7176135"/>
            <a:ext cx="4791456" cy="191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Prescriptions had been cleaned on 4 demo rows. Rebuilt on all 15,362 real rows. Raw files never overwritten.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331703" y="3370583"/>
            <a:ext cx="5054603" cy="5822699"/>
            <a:chOff x="0" y="0"/>
            <a:chExt cx="6739471" cy="77635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39509" cy="7763637"/>
            </a:xfrm>
            <a:custGeom>
              <a:avLst/>
              <a:gdLst/>
              <a:ahLst/>
              <a:cxnLst/>
              <a:rect r="r" b="b" t="t" l="l"/>
              <a:pathLst>
                <a:path h="7763637" w="673950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6543421" y="0"/>
                  </a:lnTo>
                  <a:cubicBezTo>
                    <a:pt x="6651752" y="0"/>
                    <a:pt x="6739509" y="87757"/>
                    <a:pt x="6739509" y="196088"/>
                  </a:cubicBezTo>
                  <a:lnTo>
                    <a:pt x="6739509" y="7567549"/>
                  </a:lnTo>
                  <a:cubicBezTo>
                    <a:pt x="6739509" y="7675880"/>
                    <a:pt x="6651752" y="7763637"/>
                    <a:pt x="6543421" y="7763637"/>
                  </a:cubicBezTo>
                  <a:lnTo>
                    <a:pt x="196088" y="7763637"/>
                  </a:lnTo>
                  <a:cubicBezTo>
                    <a:pt x="87757" y="7763637"/>
                    <a:pt x="0" y="7675880"/>
                    <a:pt x="0" y="7567549"/>
                  </a:cubicBezTo>
                  <a:close/>
                </a:path>
              </a:pathLst>
            </a:custGeom>
            <a:solidFill>
              <a:srgbClr val="F6D49B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710160" y="3657600"/>
            <a:ext cx="4389120" cy="475488"/>
            <a:chOff x="0" y="0"/>
            <a:chExt cx="5852160" cy="6339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8521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CD41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710160" y="4206240"/>
            <a:ext cx="4389120" cy="731520"/>
            <a:chOff x="0" y="0"/>
            <a:chExt cx="585216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8521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0A014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patient_master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710160" y="5029200"/>
            <a:ext cx="4389120" cy="1005840"/>
            <a:chOff x="0" y="0"/>
            <a:chExt cx="585216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8521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2,008 × 198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2710160" y="6170295"/>
            <a:ext cx="4389120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8102E"/>
                </a:solidFill>
                <a:latin typeface="Calibri (MS)"/>
                <a:ea typeface="Calibri (MS)"/>
                <a:cs typeface="Calibri (MS)"/>
                <a:sym typeface="Calibri (MS)"/>
              </a:rPr>
              <a:t>One row per patient: 6 tables joined, plus drug count and 25 drug flags. Same 2,008 IDs in every table, 0 duplicates.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49614" y="6446736"/>
            <a:ext cx="4782302" cy="4712487"/>
          </a:xfrm>
          <a:custGeom>
            <a:avLst/>
            <a:gdLst/>
            <a:ahLst/>
            <a:cxnLst/>
            <a:rect r="r" b="b" t="t" l="l"/>
            <a:pathLst>
              <a:path h="4712487" w="4782302">
                <a:moveTo>
                  <a:pt x="0" y="0"/>
                </a:moveTo>
                <a:lnTo>
                  <a:pt x="4782302" y="0"/>
                </a:lnTo>
                <a:lnTo>
                  <a:pt x="4782302" y="4712488"/>
                </a:lnTo>
                <a:lnTo>
                  <a:pt x="0" y="47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43216" y="-1611996"/>
            <a:ext cx="4782302" cy="4712487"/>
          </a:xfrm>
          <a:custGeom>
            <a:avLst/>
            <a:gdLst/>
            <a:ahLst/>
            <a:cxnLst/>
            <a:rect r="r" b="b" t="t" l="l"/>
            <a:pathLst>
              <a:path h="4712487" w="4782302">
                <a:moveTo>
                  <a:pt x="0" y="0"/>
                </a:moveTo>
                <a:lnTo>
                  <a:pt x="4782302" y="0"/>
                </a:lnTo>
                <a:lnTo>
                  <a:pt x="4782302" y="4712488"/>
                </a:lnTo>
                <a:lnTo>
                  <a:pt x="0" y="47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32688" y="217396"/>
            <a:ext cx="10935586" cy="768096"/>
            <a:chOff x="0" y="0"/>
            <a:chExt cx="14580781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8078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580781">
                  <a:moveTo>
                    <a:pt x="0" y="0"/>
                  </a:moveTo>
                  <a:lnTo>
                    <a:pt x="14580781" y="0"/>
                  </a:lnTo>
                  <a:lnTo>
                    <a:pt x="1458078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143" r="-33787" b="-3211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580781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 spc="418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2 · DESCRIPTIVE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0384" y="250579"/>
            <a:ext cx="777147" cy="701729"/>
            <a:chOff x="0" y="0"/>
            <a:chExt cx="1128883" cy="10193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921" cy="1019369"/>
            </a:xfrm>
            <a:custGeom>
              <a:avLst/>
              <a:gdLst/>
              <a:ahLst/>
              <a:cxnLst/>
              <a:rect r="r" b="b" t="t" l="l"/>
              <a:pathLst>
                <a:path h="1019369" w="1128921">
                  <a:moveTo>
                    <a:pt x="0" y="509623"/>
                  </a:moveTo>
                  <a:cubicBezTo>
                    <a:pt x="0" y="228198"/>
                    <a:pt x="252724" y="0"/>
                    <a:pt x="564394" y="0"/>
                  </a:cubicBezTo>
                  <a:cubicBezTo>
                    <a:pt x="876064" y="0"/>
                    <a:pt x="1128921" y="228198"/>
                    <a:pt x="1128921" y="509623"/>
                  </a:cubicBezTo>
                  <a:cubicBezTo>
                    <a:pt x="1128921" y="791047"/>
                    <a:pt x="876200" y="1019369"/>
                    <a:pt x="564394" y="1019369"/>
                  </a:cubicBezTo>
                  <a:cubicBezTo>
                    <a:pt x="252588" y="1019369"/>
                    <a:pt x="0" y="791169"/>
                    <a:pt x="0" y="509623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52016" y="334688"/>
            <a:ext cx="453883" cy="45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0"/>
              </a:lnSpc>
              <a:spcBef>
                <a:spcPct val="0"/>
              </a:spcBef>
            </a:pPr>
            <a:r>
              <a:rPr lang="en-US" b="true" sz="25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5167" y="942784"/>
            <a:ext cx="164592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Readmission dominates, and kidney damage hides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75167" y="1776343"/>
            <a:ext cx="16459200" cy="585216"/>
            <a:chOff x="0" y="0"/>
            <a:chExt cx="2194560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baseline facts that set the direction for everything after</a:t>
              </a: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78494" y="1779243"/>
            <a:ext cx="10279085" cy="7064475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84618" y="1828974"/>
            <a:ext cx="9682303" cy="662905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035933" y="8254340"/>
            <a:ext cx="8364356" cy="1130955"/>
            <a:chOff x="0" y="0"/>
            <a:chExt cx="108204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2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820400">
                  <a:moveTo>
                    <a:pt x="349871" y="0"/>
                  </a:moveTo>
                  <a:lnTo>
                    <a:pt x="10470529" y="0"/>
                  </a:lnTo>
                  <a:cubicBezTo>
                    <a:pt x="10663758" y="0"/>
                    <a:pt x="10820400" y="156643"/>
                    <a:pt x="10820400" y="349871"/>
                  </a:cubicBezTo>
                  <a:lnTo>
                    <a:pt x="10820400" y="1113169"/>
                  </a:lnTo>
                  <a:cubicBezTo>
                    <a:pt x="10820400" y="1306397"/>
                    <a:pt x="10663758" y="1463040"/>
                    <a:pt x="10470529" y="1463040"/>
                  </a:cubicBezTo>
                  <a:lnTo>
                    <a:pt x="349871" y="1463040"/>
                  </a:lnTo>
                  <a:cubicBezTo>
                    <a:pt x="156643" y="1463040"/>
                    <a:pt x="0" y="1306397"/>
                    <a:pt x="0" y="1113169"/>
                  </a:cubicBezTo>
                  <a:lnTo>
                    <a:pt x="0" y="349871"/>
                  </a:lnTo>
                  <a:cubicBezTo>
                    <a:pt x="0" y="156643"/>
                    <a:pt x="156643" y="0"/>
                    <a:pt x="349871" y="0"/>
                  </a:cubicBezTo>
                  <a:close/>
                </a:path>
              </a:pathLst>
            </a:custGeom>
            <a:solidFill>
              <a:srgbClr val="F6D49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820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</a:t>
              </a:r>
              <a:r>
                <a:rPr lang="en-US" sz="2299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773 readmissions vs 57 deaths at 6 months. </a:t>
              </a:r>
              <a:r>
                <a:rPr lang="en-US" sz="2299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focused on    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readmission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95761" y="8254340"/>
            <a:ext cx="7964302" cy="1130955"/>
            <a:chOff x="0" y="0"/>
            <a:chExt cx="10619069" cy="1507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19069" cy="1507940"/>
            </a:xfrm>
            <a:custGeom>
              <a:avLst/>
              <a:gdLst/>
              <a:ahLst/>
              <a:cxnLst/>
              <a:rect r="r" b="b" t="t" l="l"/>
              <a:pathLst>
                <a:path h="1507940" w="10619069">
                  <a:moveTo>
                    <a:pt x="310870" y="0"/>
                  </a:moveTo>
                  <a:lnTo>
                    <a:pt x="10308199" y="0"/>
                  </a:lnTo>
                  <a:cubicBezTo>
                    <a:pt x="10479887" y="0"/>
                    <a:pt x="10619069" y="139181"/>
                    <a:pt x="10619069" y="310870"/>
                  </a:cubicBezTo>
                  <a:lnTo>
                    <a:pt x="10619069" y="1197070"/>
                  </a:lnTo>
                  <a:cubicBezTo>
                    <a:pt x="10619069" y="1368759"/>
                    <a:pt x="10479887" y="1507940"/>
                    <a:pt x="10308199" y="1507940"/>
                  </a:cubicBezTo>
                  <a:lnTo>
                    <a:pt x="310870" y="1507940"/>
                  </a:lnTo>
                  <a:cubicBezTo>
                    <a:pt x="139181" y="1507940"/>
                    <a:pt x="0" y="1368759"/>
                    <a:pt x="0" y="1197070"/>
                  </a:cubicBezTo>
                  <a:lnTo>
                    <a:pt x="0" y="310870"/>
                  </a:lnTo>
                  <a:cubicBezTo>
                    <a:pt x="0" y="139181"/>
                    <a:pt x="139181" y="0"/>
                    <a:pt x="310870" y="0"/>
                  </a:cubicBezTo>
                  <a:close/>
                </a:path>
              </a:pathLst>
            </a:custGeom>
            <a:solidFill>
              <a:srgbClr val="F6D49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619069" cy="1555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</a:t>
              </a:r>
              <a:r>
                <a:rPr lang="en-US" sz="2199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479 patients have low GFR but no CKD flag. </a:t>
              </a:r>
              <a:r>
                <a:rPr lang="en-US" sz="2199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used measured 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GFR from here 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5393" y="9437345"/>
            <a:ext cx="16459200" cy="740664"/>
            <a:chOff x="0" y="0"/>
            <a:chExt cx="21945600" cy="9875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2136" r="0" b="-3638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94560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1E253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Also: 82% arrive in NYHA class III/IV (none in class I); median stay 8 days; 7.65 drugs per patient on average.  Source: Descriptive Q1, Q4, Q5, Q7; Prescriptive Q1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990" y="180860"/>
            <a:ext cx="3405106" cy="2674556"/>
          </a:xfrm>
          <a:custGeom>
            <a:avLst/>
            <a:gdLst/>
            <a:ahLst/>
            <a:cxnLst/>
            <a:rect r="r" b="b" t="t" l="l"/>
            <a:pathLst>
              <a:path h="2674556" w="3405106">
                <a:moveTo>
                  <a:pt x="0" y="0"/>
                </a:moveTo>
                <a:lnTo>
                  <a:pt x="3405106" y="0"/>
                </a:lnTo>
                <a:lnTo>
                  <a:pt x="3405106" y="2674556"/>
                </a:lnTo>
                <a:lnTo>
                  <a:pt x="0" y="2674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7909" y="1928373"/>
            <a:ext cx="1209314" cy="1218173"/>
          </a:xfrm>
          <a:custGeom>
            <a:avLst/>
            <a:gdLst/>
            <a:ahLst/>
            <a:cxnLst/>
            <a:rect r="r" b="b" t="t" l="l"/>
            <a:pathLst>
              <a:path h="1218173" w="1209314">
                <a:moveTo>
                  <a:pt x="0" y="0"/>
                </a:moveTo>
                <a:lnTo>
                  <a:pt x="1209313" y="0"/>
                </a:lnTo>
                <a:lnTo>
                  <a:pt x="1209313" y="1218174"/>
                </a:lnTo>
                <a:lnTo>
                  <a:pt x="0" y="1218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542620" y="8101649"/>
            <a:ext cx="4782302" cy="4712487"/>
          </a:xfrm>
          <a:custGeom>
            <a:avLst/>
            <a:gdLst/>
            <a:ahLst/>
            <a:cxnLst/>
            <a:rect r="r" b="b" t="t" l="l"/>
            <a:pathLst>
              <a:path h="4712487" w="4782302">
                <a:moveTo>
                  <a:pt x="0" y="0"/>
                </a:moveTo>
                <a:lnTo>
                  <a:pt x="4782302" y="0"/>
                </a:lnTo>
                <a:lnTo>
                  <a:pt x="4782302" y="4712487"/>
                </a:lnTo>
                <a:lnTo>
                  <a:pt x="0" y="47124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98950" y="8906502"/>
            <a:ext cx="1252328" cy="1218173"/>
          </a:xfrm>
          <a:custGeom>
            <a:avLst/>
            <a:gdLst/>
            <a:ahLst/>
            <a:cxnLst/>
            <a:rect r="r" b="b" t="t" l="l"/>
            <a:pathLst>
              <a:path h="1218173" w="1252328">
                <a:moveTo>
                  <a:pt x="0" y="0"/>
                </a:moveTo>
                <a:lnTo>
                  <a:pt x="1252328" y="0"/>
                </a:lnTo>
                <a:lnTo>
                  <a:pt x="1252328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414693" y="1928373"/>
            <a:ext cx="3550831" cy="3498994"/>
          </a:xfrm>
          <a:custGeom>
            <a:avLst/>
            <a:gdLst/>
            <a:ahLst/>
            <a:cxnLst/>
            <a:rect r="r" b="b" t="t" l="l"/>
            <a:pathLst>
              <a:path h="3498994" w="3550831">
                <a:moveTo>
                  <a:pt x="0" y="0"/>
                </a:moveTo>
                <a:lnTo>
                  <a:pt x="3550830" y="0"/>
                </a:lnTo>
                <a:lnTo>
                  <a:pt x="3550830" y="3498994"/>
                </a:lnTo>
                <a:lnTo>
                  <a:pt x="0" y="34989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28800" y="180860"/>
            <a:ext cx="11533568" cy="812071"/>
            <a:chOff x="0" y="0"/>
            <a:chExt cx="145453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453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545340">
                  <a:moveTo>
                    <a:pt x="0" y="0"/>
                  </a:moveTo>
                  <a:lnTo>
                    <a:pt x="14545340" y="0"/>
                  </a:lnTo>
                  <a:lnTo>
                    <a:pt x="145453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321143" r="-34113" b="-3211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5453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399" spc="436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3 · PRESCRIPTIVE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1526" y="155457"/>
            <a:ext cx="793499" cy="793499"/>
            <a:chOff x="0" y="0"/>
            <a:chExt cx="1057999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41526" y="335989"/>
            <a:ext cx="79349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8233" y="1088827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Sicker at admission, more likely to come back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52896" y="1852351"/>
            <a:ext cx="16459200" cy="585216"/>
            <a:chOff x="0" y="0"/>
            <a:chExt cx="2194560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Readmission rate by NYHA class, at every follow-up window</a:t>
              </a: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02153" y="1590734"/>
            <a:ext cx="12105097" cy="7778617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11704320" y="3474720"/>
            <a:ext cx="5669280" cy="548640"/>
            <a:chOff x="0" y="0"/>
            <a:chExt cx="75590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IV vs II/III, odds of readmission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72591" y="4156967"/>
            <a:ext cx="5824842" cy="830075"/>
            <a:chOff x="0" y="0"/>
            <a:chExt cx="7766456" cy="11067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66494" cy="1106805"/>
            </a:xfrm>
            <a:custGeom>
              <a:avLst/>
              <a:gdLst/>
              <a:ahLst/>
              <a:cxnLst/>
              <a:rect r="r" b="b" t="t" l="l"/>
              <a:pathLst>
                <a:path h="1106805" w="7766494">
                  <a:moveTo>
                    <a:pt x="0" y="201295"/>
                  </a:moveTo>
                  <a:cubicBezTo>
                    <a:pt x="0" y="90043"/>
                    <a:pt x="92101" y="0"/>
                    <a:pt x="205896" y="0"/>
                  </a:cubicBezTo>
                  <a:lnTo>
                    <a:pt x="7560600" y="0"/>
                  </a:lnTo>
                  <a:cubicBezTo>
                    <a:pt x="7674264" y="0"/>
                    <a:pt x="7766494" y="90043"/>
                    <a:pt x="7766494" y="201295"/>
                  </a:cubicBezTo>
                  <a:lnTo>
                    <a:pt x="7766494" y="905510"/>
                  </a:lnTo>
                  <a:cubicBezTo>
                    <a:pt x="7766494" y="1016635"/>
                    <a:pt x="7674394" y="1106805"/>
                    <a:pt x="7560600" y="1106805"/>
                  </a:cubicBezTo>
                  <a:lnTo>
                    <a:pt x="205896" y="1106805"/>
                  </a:lnTo>
                  <a:cubicBezTo>
                    <a:pt x="92101" y="1106805"/>
                    <a:pt x="0" y="1016635"/>
                    <a:pt x="0" y="905510"/>
                  </a:cubicBezTo>
                  <a:close/>
                </a:path>
              </a:pathLst>
            </a:custGeom>
            <a:solidFill>
              <a:srgbClr val="EEF2F7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572591" y="5427367"/>
            <a:ext cx="5801009" cy="817374"/>
            <a:chOff x="0" y="0"/>
            <a:chExt cx="7734678" cy="1089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34716" cy="1089870"/>
            </a:xfrm>
            <a:custGeom>
              <a:avLst/>
              <a:gdLst/>
              <a:ahLst/>
              <a:cxnLst/>
              <a:rect r="r" b="b" t="t" l="l"/>
              <a:pathLst>
                <a:path h="1089870" w="7734716">
                  <a:moveTo>
                    <a:pt x="0" y="198215"/>
                  </a:moveTo>
                  <a:cubicBezTo>
                    <a:pt x="0" y="88665"/>
                    <a:pt x="91724" y="0"/>
                    <a:pt x="205053" y="0"/>
                  </a:cubicBezTo>
                  <a:lnTo>
                    <a:pt x="7529664" y="0"/>
                  </a:lnTo>
                  <a:cubicBezTo>
                    <a:pt x="7642864" y="0"/>
                    <a:pt x="7734716" y="88665"/>
                    <a:pt x="7734716" y="198215"/>
                  </a:cubicBezTo>
                  <a:lnTo>
                    <a:pt x="7734716" y="891654"/>
                  </a:lnTo>
                  <a:cubicBezTo>
                    <a:pt x="7734716" y="1001079"/>
                    <a:pt x="7642993" y="1089870"/>
                    <a:pt x="7529664" y="1089870"/>
                  </a:cubicBezTo>
                  <a:lnTo>
                    <a:pt x="205053" y="1089870"/>
                  </a:lnTo>
                  <a:cubicBezTo>
                    <a:pt x="91724" y="1089870"/>
                    <a:pt x="0" y="1001079"/>
                    <a:pt x="0" y="891654"/>
                  </a:cubicBezTo>
                  <a:close/>
                </a:path>
              </a:pathLst>
            </a:custGeom>
            <a:solidFill>
              <a:srgbClr val="EEF2F7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571021" y="6741376"/>
            <a:ext cx="5826412" cy="830075"/>
            <a:chOff x="0" y="0"/>
            <a:chExt cx="7768549" cy="11067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68587" cy="1106805"/>
            </a:xfrm>
            <a:custGeom>
              <a:avLst/>
              <a:gdLst/>
              <a:ahLst/>
              <a:cxnLst/>
              <a:rect r="r" b="b" t="t" l="l"/>
              <a:pathLst>
                <a:path h="1106805" w="7768587">
                  <a:moveTo>
                    <a:pt x="0" y="201295"/>
                  </a:moveTo>
                  <a:cubicBezTo>
                    <a:pt x="0" y="90043"/>
                    <a:pt x="92126" y="0"/>
                    <a:pt x="205951" y="0"/>
                  </a:cubicBezTo>
                  <a:lnTo>
                    <a:pt x="7562637" y="0"/>
                  </a:lnTo>
                  <a:cubicBezTo>
                    <a:pt x="7676333" y="0"/>
                    <a:pt x="7768587" y="90043"/>
                    <a:pt x="7768587" y="201295"/>
                  </a:cubicBezTo>
                  <a:lnTo>
                    <a:pt x="7768587" y="905510"/>
                  </a:lnTo>
                  <a:cubicBezTo>
                    <a:pt x="7768587" y="1016635"/>
                    <a:pt x="7676462" y="1106805"/>
                    <a:pt x="7562637" y="1106805"/>
                  </a:cubicBezTo>
                  <a:lnTo>
                    <a:pt x="205951" y="1106805"/>
                  </a:lnTo>
                  <a:cubicBezTo>
                    <a:pt x="92126" y="1106805"/>
                    <a:pt x="0" y="1016635"/>
                    <a:pt x="0" y="905510"/>
                  </a:cubicBezTo>
                  <a:close/>
                </a:path>
              </a:pathLst>
            </a:custGeom>
            <a:solidFill>
              <a:srgbClr val="EEF2F7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262260" y="4185881"/>
            <a:ext cx="1384359" cy="804672"/>
            <a:chOff x="0" y="0"/>
            <a:chExt cx="1845812" cy="1072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458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1845812">
                  <a:moveTo>
                    <a:pt x="0" y="0"/>
                  </a:moveTo>
                  <a:lnTo>
                    <a:pt x="1845812" y="0"/>
                  </a:lnTo>
                  <a:lnTo>
                    <a:pt x="18458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0854" r="-111367" b="-2085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845812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 days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10090" y="3398341"/>
            <a:ext cx="1567784" cy="2347319"/>
            <a:chOff x="0" y="0"/>
            <a:chExt cx="2090379" cy="3129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0379" cy="3129758"/>
            </a:xfrm>
            <a:custGeom>
              <a:avLst/>
              <a:gdLst/>
              <a:ahLst/>
              <a:cxnLst/>
              <a:rect r="r" b="b" t="t" l="l"/>
              <a:pathLst>
                <a:path h="3129758" w="2090379">
                  <a:moveTo>
                    <a:pt x="0" y="0"/>
                  </a:moveTo>
                  <a:lnTo>
                    <a:pt x="2090379" y="0"/>
                  </a:lnTo>
                  <a:lnTo>
                    <a:pt x="2090379" y="3129758"/>
                  </a:lnTo>
                  <a:lnTo>
                    <a:pt x="0" y="312975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317" r="-34146" b="6540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090379" cy="3139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1.71×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83579" y="5152478"/>
            <a:ext cx="2926080" cy="1198374"/>
            <a:chOff x="0" y="0"/>
            <a:chExt cx="3901440" cy="1597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01440" cy="1597832"/>
            </a:xfrm>
            <a:custGeom>
              <a:avLst/>
              <a:gdLst/>
              <a:ahLst/>
              <a:cxnLst/>
              <a:rect r="r" b="b" t="t" l="l"/>
              <a:pathLst>
                <a:path h="159783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97832"/>
                  </a:lnTo>
                  <a:lnTo>
                    <a:pt x="0" y="159783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4003" r="0" b="1884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901440" cy="1635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months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363133" y="5289004"/>
            <a:ext cx="2103120" cy="804672"/>
            <a:chOff x="0" y="0"/>
            <a:chExt cx="2804160" cy="1072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04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926" r="0" b="-92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80416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1.52×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36742" y="6840614"/>
            <a:ext cx="2926080" cy="804672"/>
            <a:chOff x="0" y="0"/>
            <a:chExt cx="3901440" cy="10728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01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9014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months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274754" y="6741376"/>
            <a:ext cx="2103120" cy="804672"/>
            <a:chOff x="0" y="0"/>
            <a:chExt cx="2804160" cy="1072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04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926" r="0" b="-9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80416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1.45×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572591" y="8152477"/>
            <a:ext cx="5258324" cy="207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04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All p &lt; 0.005. The second severity grade, Killip, added nothing beyond NYHA (likelihood-ratio p = 0.48), so we kept one severity measure, not two.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340952" y="9398818"/>
            <a:ext cx="15032648" cy="725857"/>
            <a:chOff x="0" y="0"/>
            <a:chExt cx="20043531" cy="9678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043530" cy="967810"/>
            </a:xfrm>
            <a:custGeom>
              <a:avLst/>
              <a:gdLst/>
              <a:ahLst/>
              <a:cxnLst/>
              <a:rect r="r" b="b" t="t" l="l"/>
              <a:pathLst>
                <a:path h="967810" w="20043530">
                  <a:moveTo>
                    <a:pt x="0" y="0"/>
                  </a:moveTo>
                  <a:lnTo>
                    <a:pt x="20043530" y="0"/>
                  </a:lnTo>
                  <a:lnTo>
                    <a:pt x="20043530" y="967810"/>
                  </a:lnTo>
                  <a:lnTo>
                    <a:pt x="0" y="96781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10339" r="-9489" b="-37332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0043531" cy="1005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0A014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Prescriptive Q5, Q6, Q8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0167"/>
            <a:ext cx="699655" cy="69965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772399" y="2942577"/>
            <a:ext cx="5179757" cy="5104140"/>
          </a:xfrm>
          <a:custGeom>
            <a:avLst/>
            <a:gdLst/>
            <a:ahLst/>
            <a:cxnLst/>
            <a:rect r="r" b="b" t="t" l="l"/>
            <a:pathLst>
              <a:path h="5104140" w="5179757">
                <a:moveTo>
                  <a:pt x="0" y="0"/>
                </a:moveTo>
                <a:lnTo>
                  <a:pt x="5179758" y="0"/>
                </a:lnTo>
                <a:lnTo>
                  <a:pt x="5179758" y="5104140"/>
                </a:lnTo>
                <a:lnTo>
                  <a:pt x="0" y="5104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15267" y="216291"/>
            <a:ext cx="3276922" cy="3739226"/>
          </a:xfrm>
          <a:custGeom>
            <a:avLst/>
            <a:gdLst/>
            <a:ahLst/>
            <a:cxnLst/>
            <a:rect r="r" b="b" t="t" l="l"/>
            <a:pathLst>
              <a:path h="3739226" w="3276922">
                <a:moveTo>
                  <a:pt x="0" y="0"/>
                </a:moveTo>
                <a:lnTo>
                  <a:pt x="3276922" y="0"/>
                </a:lnTo>
                <a:lnTo>
                  <a:pt x="3276922" y="3739226"/>
                </a:lnTo>
                <a:lnTo>
                  <a:pt x="0" y="37392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47389" y="220167"/>
            <a:ext cx="14630400" cy="768096"/>
            <a:chOff x="0" y="0"/>
            <a:chExt cx="1950720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507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3 · PRESCRIPTIVE ANALYSIS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97744" y="1153879"/>
            <a:ext cx="1692969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Kidney function adds risk that severity misses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2989" y="2085904"/>
            <a:ext cx="16459200" cy="494723"/>
            <a:chOff x="0" y="0"/>
            <a:chExt cx="21945600" cy="6596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659631"/>
            </a:xfrm>
            <a:custGeom>
              <a:avLst/>
              <a:gdLst/>
              <a:ahLst/>
              <a:cxnLst/>
              <a:rect r="r" b="b" t="t" l="l"/>
              <a:pathLst>
                <a:path h="65963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59631"/>
                  </a:lnTo>
                  <a:lnTo>
                    <a:pt x="0" y="65963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89112" r="0" b="-60740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945600" cy="707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6-month readmission by NYHA class, split by measured kidney function (GFR)</a:t>
              </a: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645499" y="2163163"/>
            <a:ext cx="11701298" cy="7711317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781493" y="9258300"/>
            <a:ext cx="3995216" cy="663212"/>
            <a:chOff x="0" y="0"/>
            <a:chExt cx="5326955" cy="8842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26955" cy="884283"/>
            </a:xfrm>
            <a:custGeom>
              <a:avLst/>
              <a:gdLst/>
              <a:ahLst/>
              <a:cxnLst/>
              <a:rect r="r" b="b" t="t" l="l"/>
              <a:pathLst>
                <a:path h="884283" w="5326955">
                  <a:moveTo>
                    <a:pt x="0" y="0"/>
                  </a:moveTo>
                  <a:lnTo>
                    <a:pt x="5326955" y="0"/>
                  </a:lnTo>
                  <a:lnTo>
                    <a:pt x="5326955" y="884283"/>
                  </a:lnTo>
                  <a:lnTo>
                    <a:pt x="0" y="88428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9099" r="-311972" b="-4180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326955" cy="93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i="true">
                  <a:solidFill>
                    <a:srgbClr val="0A014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Prescriptive Q3, Q4, Q5, Q9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52157" y="4534152"/>
            <a:ext cx="5725633" cy="2702039"/>
            <a:chOff x="0" y="0"/>
            <a:chExt cx="8080591" cy="3813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80629" cy="3813429"/>
            </a:xfrm>
            <a:custGeom>
              <a:avLst/>
              <a:gdLst/>
              <a:ahLst/>
              <a:cxnLst/>
              <a:rect r="r" b="b" t="t" l="l"/>
              <a:pathLst>
                <a:path h="3813429" w="808062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7883779" y="0"/>
                  </a:lnTo>
                  <a:cubicBezTo>
                    <a:pt x="7992491" y="0"/>
                    <a:pt x="8080629" y="88138"/>
                    <a:pt x="8080629" y="196850"/>
                  </a:cubicBezTo>
                  <a:lnTo>
                    <a:pt x="8080629" y="3616579"/>
                  </a:lnTo>
                  <a:cubicBezTo>
                    <a:pt x="8080629" y="3725291"/>
                    <a:pt x="7992491" y="3813429"/>
                    <a:pt x="7883779" y="3813429"/>
                  </a:cubicBezTo>
                  <a:lnTo>
                    <a:pt x="196850" y="3813429"/>
                  </a:lnTo>
                  <a:cubicBezTo>
                    <a:pt x="88138" y="3813429"/>
                    <a:pt x="0" y="3725291"/>
                    <a:pt x="0" y="3616579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BE9EC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191389" y="5085072"/>
            <a:ext cx="54864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4213D"/>
                </a:solidFill>
                <a:latin typeface="Cambria Bold"/>
                <a:ea typeface="Cambria Bold"/>
                <a:cs typeface="Cambria Bold"/>
                <a:sym typeface="Cambria Bold"/>
              </a:rPr>
              <a:t>A mild patient with weak kidneys looks like a severe patient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69023" y="6285082"/>
            <a:ext cx="54864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C810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NYHA II + low GFR: 40.9%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C810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NYHA IV + normal GFR: 42.2%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97453" y="7496175"/>
            <a:ext cx="6035040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Adding GFR to NYHA + Killip improves the model (LR p = 0.000005)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The gap is widest in mild patients and narrows by class IV (interaction p = 0.086: suggestive, not proven)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640" y="375615"/>
            <a:ext cx="8257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5339" y="6293632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1792" y="-1069654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98365" y="202925"/>
            <a:ext cx="825775" cy="8257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97091" y="283638"/>
            <a:ext cx="14630400" cy="768096"/>
            <a:chOff x="0" y="0"/>
            <a:chExt cx="1950720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507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3 · PRESCRIPTIVE ANALYSIS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98365" y="396738"/>
            <a:ext cx="8257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97091" y="1042209"/>
            <a:ext cx="14630400" cy="65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b="true" sz="43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Comorbidities and sodium add risk; BNP and Killip do not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35019" y="1830267"/>
            <a:ext cx="16459200" cy="585216"/>
            <a:chOff x="0" y="0"/>
            <a:chExt cx="2194560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Associations, not causes; each tested against a comparison group</a:t>
              </a: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21528" y="2016341"/>
            <a:ext cx="11322391" cy="7620734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622005" y="9258300"/>
            <a:ext cx="6065874" cy="849265"/>
            <a:chOff x="0" y="0"/>
            <a:chExt cx="8087833" cy="11323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87833" cy="1132354"/>
            </a:xfrm>
            <a:custGeom>
              <a:avLst/>
              <a:gdLst/>
              <a:ahLst/>
              <a:cxnLst/>
              <a:rect r="r" b="b" t="t" l="l"/>
              <a:pathLst>
                <a:path h="1132354" w="8087833">
                  <a:moveTo>
                    <a:pt x="0" y="0"/>
                  </a:moveTo>
                  <a:lnTo>
                    <a:pt x="8087833" y="0"/>
                  </a:lnTo>
                  <a:lnTo>
                    <a:pt x="8087833" y="1132354"/>
                  </a:lnTo>
                  <a:lnTo>
                    <a:pt x="0" y="11323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0712" r="-171340" b="-3045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087833" cy="1170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B647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Prescriptive Q12, Q14, Q17, Q21, Q23, Q24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64619" y="2720641"/>
            <a:ext cx="6700523" cy="2281207"/>
            <a:chOff x="0" y="0"/>
            <a:chExt cx="8934031" cy="30416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34069" cy="3041647"/>
            </a:xfrm>
            <a:custGeom>
              <a:avLst/>
              <a:gdLst/>
              <a:ahLst/>
              <a:cxnLst/>
              <a:rect r="r" b="b" t="t" l="l"/>
              <a:pathLst>
                <a:path h="3041647" w="8934069">
                  <a:moveTo>
                    <a:pt x="0" y="236285"/>
                  </a:moveTo>
                  <a:cubicBezTo>
                    <a:pt x="0" y="105774"/>
                    <a:pt x="88519" y="0"/>
                    <a:pt x="197739" y="0"/>
                  </a:cubicBezTo>
                  <a:lnTo>
                    <a:pt x="8736330" y="0"/>
                  </a:lnTo>
                  <a:cubicBezTo>
                    <a:pt x="8845550" y="0"/>
                    <a:pt x="8934069" y="105774"/>
                    <a:pt x="8934069" y="236285"/>
                  </a:cubicBezTo>
                  <a:lnTo>
                    <a:pt x="8934069" y="2805370"/>
                  </a:lnTo>
                  <a:cubicBezTo>
                    <a:pt x="8934069" y="2935880"/>
                    <a:pt x="8845550" y="3041647"/>
                    <a:pt x="8736330" y="3041647"/>
                  </a:cubicBezTo>
                  <a:lnTo>
                    <a:pt x="197739" y="3041647"/>
                  </a:lnTo>
                  <a:cubicBezTo>
                    <a:pt x="88519" y="3041647"/>
                    <a:pt x="0" y="2935880"/>
                    <a:pt x="0" y="2805370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BE9E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638827" y="2959874"/>
            <a:ext cx="6217920" cy="512064"/>
            <a:chOff x="0" y="0"/>
            <a:chExt cx="829056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 sodium → early readmission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05920" y="3652913"/>
            <a:ext cx="621792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28-day readmission 11.3% in the lowest sodium quartile vs 2.9% in the highest; holds after adjusting for severity (OR 0.933 per mmol/L).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397526" y="5418591"/>
            <a:ext cx="6700523" cy="1909067"/>
            <a:chOff x="0" y="0"/>
            <a:chExt cx="8934031" cy="25454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34069" cy="2545461"/>
            </a:xfrm>
            <a:custGeom>
              <a:avLst/>
              <a:gdLst/>
              <a:ahLst/>
              <a:cxnLst/>
              <a:rect r="r" b="b" t="t" l="l"/>
              <a:pathLst>
                <a:path h="2545461" w="8934069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8736330" y="0"/>
                  </a:lnTo>
                  <a:cubicBezTo>
                    <a:pt x="8845550" y="0"/>
                    <a:pt x="8934069" y="88519"/>
                    <a:pt x="8934069" y="197739"/>
                  </a:cubicBezTo>
                  <a:lnTo>
                    <a:pt x="8934069" y="2347722"/>
                  </a:lnTo>
                  <a:cubicBezTo>
                    <a:pt x="8934069" y="2456942"/>
                    <a:pt x="8845550" y="2545461"/>
                    <a:pt x="8736330" y="2545461"/>
                  </a:cubicBezTo>
                  <a:lnTo>
                    <a:pt x="197739" y="2545461"/>
                  </a:lnTo>
                  <a:cubicBezTo>
                    <a:pt x="88519" y="2545461"/>
                    <a:pt x="0" y="2456942"/>
                    <a:pt x="0" y="2347722"/>
                  </a:cubicBezTo>
                  <a:close/>
                </a:path>
              </a:pathLst>
            </a:custGeom>
            <a:solidFill>
              <a:srgbClr val="EEF2F7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747222" y="5572447"/>
            <a:ext cx="6217920" cy="512064"/>
            <a:chOff x="0" y="0"/>
            <a:chExt cx="829056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drugs → longer stay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551636" y="6141998"/>
            <a:ext cx="621792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Prolonged stay 22.4% → 46.9% across medication quartiles; 1.2× odds per extra drug, after adjusting for severity.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397526" y="7778234"/>
            <a:ext cx="6780267" cy="1909067"/>
            <a:chOff x="0" y="0"/>
            <a:chExt cx="9040356" cy="25454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40395" cy="2545461"/>
            </a:xfrm>
            <a:custGeom>
              <a:avLst/>
              <a:gdLst/>
              <a:ahLst/>
              <a:cxnLst/>
              <a:rect r="r" b="b" t="t" l="l"/>
              <a:pathLst>
                <a:path h="2545461" w="9040395">
                  <a:moveTo>
                    <a:pt x="0" y="197739"/>
                  </a:moveTo>
                  <a:cubicBezTo>
                    <a:pt x="0" y="88519"/>
                    <a:pt x="89572" y="0"/>
                    <a:pt x="200092" y="0"/>
                  </a:cubicBezTo>
                  <a:lnTo>
                    <a:pt x="8840303" y="0"/>
                  </a:lnTo>
                  <a:cubicBezTo>
                    <a:pt x="8950823" y="0"/>
                    <a:pt x="9040395" y="88519"/>
                    <a:pt x="9040395" y="197739"/>
                  </a:cubicBezTo>
                  <a:lnTo>
                    <a:pt x="9040395" y="2347722"/>
                  </a:lnTo>
                  <a:cubicBezTo>
                    <a:pt x="9040395" y="2456942"/>
                    <a:pt x="8950823" y="2545461"/>
                    <a:pt x="8840303" y="2545461"/>
                  </a:cubicBezTo>
                  <a:lnTo>
                    <a:pt x="200092" y="2545461"/>
                  </a:lnTo>
                  <a:cubicBezTo>
                    <a:pt x="89572" y="2545461"/>
                    <a:pt x="0" y="2456942"/>
                    <a:pt x="0" y="2347722"/>
                  </a:cubicBezTo>
                  <a:close/>
                </a:path>
              </a:pathLst>
            </a:custGeom>
            <a:solidFill>
              <a:srgbClr val="EEF2F7"/>
            </a:solidFill>
            <a:ln w="25400" cap="sq">
              <a:solidFill>
                <a:srgbClr val="EEF2F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809571" y="8070608"/>
            <a:ext cx="6217920" cy="512064"/>
            <a:chOff x="0" y="0"/>
            <a:chExt cx="829056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Tested, did not help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747222" y="8694667"/>
            <a:ext cx="621792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BNP did not improve prediction beyond severity (AUC 0.558 → 0.548). Killip added nothing beyond NYHA.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06692" y="8047615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01703" y="535943"/>
            <a:ext cx="793499" cy="793499"/>
            <a:chOff x="0" y="0"/>
            <a:chExt cx="1057999" cy="1057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48640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59032" y="561346"/>
            <a:ext cx="14800574" cy="768096"/>
            <a:chOff x="0" y="0"/>
            <a:chExt cx="19734098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3409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734098">
                  <a:moveTo>
                    <a:pt x="0" y="0"/>
                  </a:moveTo>
                  <a:lnTo>
                    <a:pt x="19734098" y="0"/>
                  </a:lnTo>
                  <a:lnTo>
                    <a:pt x="1973409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143" r="1149" b="-3211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73409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4 · PREDICTIVE ANALYSIS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1416939"/>
            <a:ext cx="164592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A fair test: four outcomes, admission-day data only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2450592"/>
            <a:ext cx="16459200" cy="585216"/>
            <a:chOff x="0" y="0"/>
            <a:chExt cx="2194560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models: no single marker is strong enough alone, so we tested whether combining them predicts what happens next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1703" y="3370583"/>
            <a:ext cx="3920747" cy="2037083"/>
            <a:chOff x="0" y="0"/>
            <a:chExt cx="5227663" cy="2716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27574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27574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5030089" y="0"/>
                  </a:lnTo>
                  <a:cubicBezTo>
                    <a:pt x="5139182" y="0"/>
                    <a:pt x="5227574" y="88392"/>
                    <a:pt x="5227574" y="197485"/>
                  </a:cubicBezTo>
                  <a:lnTo>
                    <a:pt x="5227574" y="2518537"/>
                  </a:lnTo>
                  <a:cubicBezTo>
                    <a:pt x="5227574" y="2627630"/>
                    <a:pt x="5139182" y="2716022"/>
                    <a:pt x="5030089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88720" y="3529584"/>
            <a:ext cx="3474720" cy="548640"/>
            <a:chOff x="0" y="0"/>
            <a:chExt cx="46329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32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6-month readmission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4206240"/>
            <a:ext cx="3566160" cy="914400"/>
            <a:chOff x="0" y="0"/>
            <a:chExt cx="475488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754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38.5%</a:t>
              </a:r>
              <a:r>
                <a:rPr lang="en-US" sz="20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773 patients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71367" y="3370583"/>
            <a:ext cx="3920747" cy="2037083"/>
            <a:chOff x="0" y="0"/>
            <a:chExt cx="5227663" cy="27161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27574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27574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5030089" y="0"/>
                  </a:lnTo>
                  <a:cubicBezTo>
                    <a:pt x="5139182" y="0"/>
                    <a:pt x="5227574" y="88392"/>
                    <a:pt x="5227574" y="197485"/>
                  </a:cubicBezTo>
                  <a:lnTo>
                    <a:pt x="5227574" y="2518537"/>
                  </a:lnTo>
                  <a:cubicBezTo>
                    <a:pt x="5227574" y="2627630"/>
                    <a:pt x="5139182" y="2716022"/>
                    <a:pt x="5030089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358384" y="3529584"/>
            <a:ext cx="3474720" cy="548640"/>
            <a:chOff x="0" y="0"/>
            <a:chExt cx="46329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632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28-day readmission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58384" y="4206240"/>
            <a:ext cx="3566160" cy="914400"/>
            <a:chOff x="0" y="0"/>
            <a:chExt cx="475488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754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6.9%</a:t>
              </a:r>
              <a:r>
                <a:rPr lang="en-US" sz="20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137 of 1,986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41031" y="3370583"/>
            <a:ext cx="3920747" cy="2037083"/>
            <a:chOff x="0" y="0"/>
            <a:chExt cx="5227663" cy="2716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27574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27574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5030089" y="0"/>
                  </a:lnTo>
                  <a:cubicBezTo>
                    <a:pt x="5139182" y="0"/>
                    <a:pt x="5227574" y="88392"/>
                    <a:pt x="5227574" y="197485"/>
                  </a:cubicBezTo>
                  <a:lnTo>
                    <a:pt x="5227574" y="2518537"/>
                  </a:lnTo>
                  <a:cubicBezTo>
                    <a:pt x="5227574" y="2627630"/>
                    <a:pt x="5139182" y="2716022"/>
                    <a:pt x="5030089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6D49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528048" y="3529584"/>
            <a:ext cx="3474720" cy="548640"/>
            <a:chOff x="0" y="0"/>
            <a:chExt cx="46329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632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Prolonged stay (&gt;10 days)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28048" y="4206240"/>
            <a:ext cx="3566160" cy="914400"/>
            <a:chOff x="0" y="0"/>
            <a:chExt cx="475488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754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24.8%</a:t>
              </a:r>
              <a:r>
                <a:rPr lang="en-US" sz="20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498 patients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410695" y="3370583"/>
            <a:ext cx="3920747" cy="2037083"/>
            <a:chOff x="0" y="0"/>
            <a:chExt cx="5227663" cy="2716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27574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27574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5030089" y="0"/>
                  </a:lnTo>
                  <a:cubicBezTo>
                    <a:pt x="5139182" y="0"/>
                    <a:pt x="5227574" y="88392"/>
                    <a:pt x="5227574" y="197485"/>
                  </a:cubicBezTo>
                  <a:lnTo>
                    <a:pt x="5227574" y="2518537"/>
                  </a:lnTo>
                  <a:cubicBezTo>
                    <a:pt x="5227574" y="2627630"/>
                    <a:pt x="5139182" y="2716022"/>
                    <a:pt x="5030089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6D49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697712" y="3529584"/>
            <a:ext cx="3474720" cy="548640"/>
            <a:chOff x="0" y="0"/>
            <a:chExt cx="46329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632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6-month mortality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697712" y="4206240"/>
            <a:ext cx="3566160" cy="914400"/>
            <a:chOff x="0" y="0"/>
            <a:chExt cx="475488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754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2.8%</a:t>
              </a:r>
              <a:r>
                <a:rPr lang="en-US" sz="20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57 patients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01703" y="5656583"/>
            <a:ext cx="8126987" cy="2000507"/>
            <a:chOff x="0" y="0"/>
            <a:chExt cx="10835983" cy="266734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36021" cy="2667381"/>
            </a:xfrm>
            <a:custGeom>
              <a:avLst/>
              <a:gdLst/>
              <a:ahLst/>
              <a:cxnLst/>
              <a:rect r="r" b="b" t="t" l="l"/>
              <a:pathLst>
                <a:path h="2667381" w="10836021">
                  <a:moveTo>
                    <a:pt x="0" y="197612"/>
                  </a:moveTo>
                  <a:cubicBezTo>
                    <a:pt x="0" y="88392"/>
                    <a:pt x="88392" y="0"/>
                    <a:pt x="197612" y="0"/>
                  </a:cubicBezTo>
                  <a:lnTo>
                    <a:pt x="10638409" y="0"/>
                  </a:lnTo>
                  <a:cubicBezTo>
                    <a:pt x="10747502" y="0"/>
                    <a:pt x="10836021" y="88392"/>
                    <a:pt x="10836021" y="197612"/>
                  </a:cubicBezTo>
                  <a:lnTo>
                    <a:pt x="10836021" y="2469769"/>
                  </a:lnTo>
                  <a:cubicBezTo>
                    <a:pt x="10836021" y="2578862"/>
                    <a:pt x="10747628" y="2667381"/>
                    <a:pt x="10638409" y="2667381"/>
                  </a:cubicBezTo>
                  <a:lnTo>
                    <a:pt x="197612" y="2667381"/>
                  </a:lnTo>
                  <a:cubicBezTo>
                    <a:pt x="88392" y="2667381"/>
                    <a:pt x="0" y="2578862"/>
                    <a:pt x="0" y="2469769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" y="5797296"/>
            <a:ext cx="7498080" cy="512064"/>
            <a:chOff x="0" y="0"/>
            <a:chExt cx="999744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Leakage rule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88720" y="6298311"/>
            <a:ext cx="758952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Only what is known at admission. Excluded: length of stay, discharge details, in-hospital drugs, outcome and event-time fields.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259319" y="5656583"/>
            <a:ext cx="8126987" cy="2000507"/>
            <a:chOff x="0" y="0"/>
            <a:chExt cx="10835983" cy="26673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36021" cy="2667381"/>
            </a:xfrm>
            <a:custGeom>
              <a:avLst/>
              <a:gdLst/>
              <a:ahLst/>
              <a:cxnLst/>
              <a:rect r="r" b="b" t="t" l="l"/>
              <a:pathLst>
                <a:path h="2667381" w="10836021">
                  <a:moveTo>
                    <a:pt x="0" y="197612"/>
                  </a:moveTo>
                  <a:cubicBezTo>
                    <a:pt x="0" y="88392"/>
                    <a:pt x="88392" y="0"/>
                    <a:pt x="197612" y="0"/>
                  </a:cubicBezTo>
                  <a:lnTo>
                    <a:pt x="10638409" y="0"/>
                  </a:lnTo>
                  <a:cubicBezTo>
                    <a:pt x="10747502" y="0"/>
                    <a:pt x="10836021" y="88392"/>
                    <a:pt x="10836021" y="197612"/>
                  </a:cubicBezTo>
                  <a:lnTo>
                    <a:pt x="10836021" y="2469769"/>
                  </a:lnTo>
                  <a:cubicBezTo>
                    <a:pt x="10836021" y="2578862"/>
                    <a:pt x="10747628" y="2667381"/>
                    <a:pt x="10638409" y="2667381"/>
                  </a:cubicBezTo>
                  <a:lnTo>
                    <a:pt x="197612" y="2667381"/>
                  </a:lnTo>
                  <a:cubicBezTo>
                    <a:pt x="88392" y="2667381"/>
                    <a:pt x="0" y="2578862"/>
                    <a:pt x="0" y="2469769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546336" y="5797296"/>
            <a:ext cx="7498080" cy="512064"/>
            <a:chOff x="0" y="0"/>
            <a:chExt cx="999744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Fair evaluation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546336" y="6298311"/>
            <a:ext cx="758952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Held-out test sets or repeated cross-validation; compared with a no-information baseline and NYHA + Killip alone; judged on AUC, PR-AUC and recall, not accuracy.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01703" y="7851143"/>
            <a:ext cx="16484603" cy="1579883"/>
            <a:chOff x="0" y="0"/>
            <a:chExt cx="21979471" cy="21065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79510" cy="2106549"/>
            </a:xfrm>
            <a:custGeom>
              <a:avLst/>
              <a:gdLst/>
              <a:ahLst/>
              <a:cxnLst/>
              <a:rect r="r" b="b" t="t" l="l"/>
              <a:pathLst>
                <a:path h="2106549" w="21979510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21781263" y="0"/>
                  </a:lnTo>
                  <a:cubicBezTo>
                    <a:pt x="21890737" y="0"/>
                    <a:pt x="21979510" y="88773"/>
                    <a:pt x="21979510" y="198247"/>
                  </a:cubicBezTo>
                  <a:lnTo>
                    <a:pt x="21979510" y="1908302"/>
                  </a:lnTo>
                  <a:cubicBezTo>
                    <a:pt x="21979510" y="2017776"/>
                    <a:pt x="21890737" y="2106549"/>
                    <a:pt x="21781263" y="2106549"/>
                  </a:cubicBezTo>
                  <a:lnTo>
                    <a:pt x="198247" y="2106549"/>
                  </a:lnTo>
                  <a:cubicBezTo>
                    <a:pt x="88773" y="2106549"/>
                    <a:pt x="0" y="2017776"/>
                    <a:pt x="0" y="1908302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6D49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43584" y="7918704"/>
            <a:ext cx="15910560" cy="1463040"/>
            <a:chOff x="0" y="0"/>
            <a:chExt cx="21214080" cy="1950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2140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121408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H0 (each outcome): </a:t>
              </a:r>
              <a:r>
                <a:rPr lang="en-US" sz="2300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admission-day data predicts no better than a no-information baseline (AUC = 0.5).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H1: </a:t>
              </a:r>
              <a:r>
                <a:rPr lang="en-US" sz="2300">
                  <a:solidFill>
                    <a:srgbClr val="1E25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severity, kidney function, cardiac stress, vitals and comorbidity together separate patients better than chance.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7012900" y="-4204115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224463" y="1397420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7" y="0"/>
                </a:lnTo>
                <a:lnTo>
                  <a:pt x="6081307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40654" y="7775425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01703" y="535943"/>
            <a:ext cx="793499" cy="793499"/>
            <a:chOff x="0" y="0"/>
            <a:chExt cx="1057999" cy="10579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768096" cy="768096"/>
            <a:chOff x="0" y="0"/>
            <a:chExt cx="1024128" cy="102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548640"/>
            <a:ext cx="14630400" cy="768096"/>
            <a:chOff x="0" y="0"/>
            <a:chExt cx="19507200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507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4 · PREDICTIVE ANALYSIS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141693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The more acute the outcome, the better we predict it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98448" y="2431037"/>
            <a:ext cx="16459200" cy="585216"/>
            <a:chOff x="0" y="0"/>
            <a:chExt cx="219456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 AUC by outcome (0.5 = chance)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02903" y="3187703"/>
            <a:ext cx="6883403" cy="1909067"/>
            <a:chOff x="0" y="0"/>
            <a:chExt cx="9177871" cy="25454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77909" cy="2545461"/>
            </a:xfrm>
            <a:custGeom>
              <a:avLst/>
              <a:gdLst/>
              <a:ahLst/>
              <a:cxnLst/>
              <a:rect r="r" b="b" t="t" l="l"/>
              <a:pathLst>
                <a:path h="2545461" w="9177909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8980170" y="0"/>
                  </a:lnTo>
                  <a:cubicBezTo>
                    <a:pt x="9089389" y="0"/>
                    <a:pt x="9177909" y="88519"/>
                    <a:pt x="9177909" y="197739"/>
                  </a:cubicBezTo>
                  <a:lnTo>
                    <a:pt x="9177909" y="2347722"/>
                  </a:lnTo>
                  <a:cubicBezTo>
                    <a:pt x="9177909" y="2456942"/>
                    <a:pt x="9089389" y="2545461"/>
                    <a:pt x="8980170" y="2545461"/>
                  </a:cubicBezTo>
                  <a:lnTo>
                    <a:pt x="197739" y="2545461"/>
                  </a:lnTo>
                  <a:cubicBezTo>
                    <a:pt x="88519" y="2545461"/>
                    <a:pt x="0" y="2456942"/>
                    <a:pt x="0" y="2347722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BE9E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789920" y="3346704"/>
            <a:ext cx="6400800" cy="512064"/>
            <a:chOff x="0" y="0"/>
            <a:chExt cx="853440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6-month mortality: AUC 0.795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02903" y="5254247"/>
            <a:ext cx="6883403" cy="1909067"/>
            <a:chOff x="0" y="0"/>
            <a:chExt cx="9177871" cy="25454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77909" cy="2545461"/>
            </a:xfrm>
            <a:custGeom>
              <a:avLst/>
              <a:gdLst/>
              <a:ahLst/>
              <a:cxnLst/>
              <a:rect r="r" b="b" t="t" l="l"/>
              <a:pathLst>
                <a:path h="2545461" w="9177909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8980170" y="0"/>
                  </a:lnTo>
                  <a:cubicBezTo>
                    <a:pt x="9089389" y="0"/>
                    <a:pt x="9177909" y="88519"/>
                    <a:pt x="9177909" y="197739"/>
                  </a:cubicBezTo>
                  <a:lnTo>
                    <a:pt x="9177909" y="2347722"/>
                  </a:lnTo>
                  <a:cubicBezTo>
                    <a:pt x="9177909" y="2456942"/>
                    <a:pt x="9089389" y="2545461"/>
                    <a:pt x="8980170" y="2545461"/>
                  </a:cubicBezTo>
                  <a:lnTo>
                    <a:pt x="197739" y="2545461"/>
                  </a:lnTo>
                  <a:cubicBezTo>
                    <a:pt x="88519" y="2545461"/>
                    <a:pt x="0" y="2456942"/>
                    <a:pt x="0" y="2347722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789920" y="5413248"/>
            <a:ext cx="6400800" cy="512064"/>
            <a:chOff x="0" y="0"/>
            <a:chExt cx="8534400" cy="68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A0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28-day readmission: AUC 0.619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502903" y="7320791"/>
            <a:ext cx="6883403" cy="1909067"/>
            <a:chOff x="0" y="0"/>
            <a:chExt cx="9177871" cy="25454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77909" cy="2545461"/>
            </a:xfrm>
            <a:custGeom>
              <a:avLst/>
              <a:gdLst/>
              <a:ahLst/>
              <a:cxnLst/>
              <a:rect r="r" b="b" t="t" l="l"/>
              <a:pathLst>
                <a:path h="2545461" w="9177909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8980170" y="0"/>
                  </a:lnTo>
                  <a:cubicBezTo>
                    <a:pt x="9089389" y="0"/>
                    <a:pt x="9177909" y="88519"/>
                    <a:pt x="9177909" y="197739"/>
                  </a:cubicBezTo>
                  <a:lnTo>
                    <a:pt x="9177909" y="2347722"/>
                  </a:lnTo>
                  <a:cubicBezTo>
                    <a:pt x="9177909" y="2456942"/>
                    <a:pt x="9089389" y="2545461"/>
                    <a:pt x="8980170" y="2545461"/>
                  </a:cubicBezTo>
                  <a:lnTo>
                    <a:pt x="197739" y="2545461"/>
                  </a:lnTo>
                  <a:cubicBezTo>
                    <a:pt x="88519" y="2545461"/>
                    <a:pt x="0" y="2456942"/>
                    <a:pt x="0" y="2347722"/>
                  </a:cubicBezTo>
                  <a:close/>
                </a:path>
              </a:pathLst>
            </a:custGeom>
            <a:solidFill>
              <a:srgbClr val="EEF2F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789920" y="7479792"/>
            <a:ext cx="6400800" cy="512064"/>
            <a:chOff x="0" y="0"/>
            <a:chExt cx="853440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534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A01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6-month readmission: AUC 0.540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040654" y="9405308"/>
            <a:ext cx="14332946" cy="888855"/>
            <a:chOff x="0" y="0"/>
            <a:chExt cx="20766417" cy="12878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766418" cy="1287825"/>
            </a:xfrm>
            <a:custGeom>
              <a:avLst/>
              <a:gdLst/>
              <a:ahLst/>
              <a:cxnLst/>
              <a:rect r="r" b="b" t="t" l="l"/>
              <a:pathLst>
                <a:path h="1287825" w="20766418">
                  <a:moveTo>
                    <a:pt x="0" y="0"/>
                  </a:moveTo>
                  <a:lnTo>
                    <a:pt x="20766418" y="0"/>
                  </a:lnTo>
                  <a:lnTo>
                    <a:pt x="20766418" y="1287825"/>
                  </a:lnTo>
                  <a:lnTo>
                    <a:pt x="0" y="12878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8373" r="-5678" b="-2557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766417" cy="1325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B647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Prolonged stay AUC 0.663 (severity alone 0.545). AUCs come from different validation designs, so read the pattern, not an exact ranking.Source: Predictive Q1–Q4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028700" y="3016253"/>
            <a:ext cx="9098567" cy="6148966"/>
          </a:xfrm>
          <a:custGeom>
            <a:avLst/>
            <a:gdLst/>
            <a:ahLst/>
            <a:cxnLst/>
            <a:rect r="r" b="b" t="t" l="l"/>
            <a:pathLst>
              <a:path h="6148966" w="9098567">
                <a:moveTo>
                  <a:pt x="0" y="0"/>
                </a:moveTo>
                <a:lnTo>
                  <a:pt x="9098567" y="0"/>
                </a:lnTo>
                <a:lnTo>
                  <a:pt x="9098567" y="6148967"/>
                </a:lnTo>
                <a:lnTo>
                  <a:pt x="0" y="61489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789920" y="3857244"/>
            <a:ext cx="640080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4213D"/>
                </a:solidFill>
                <a:latin typeface="Calibri (MS)"/>
                <a:ea typeface="Calibri (MS)"/>
                <a:cs typeface="Calibri (MS)"/>
                <a:sym typeface="Calibri (MS)"/>
              </a:rPr>
              <a:t>Top 20% of risk scores hold 63% of deaths. Beats severity alone (+0.07 AUC). H0 rejected.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89920" y="5923788"/>
            <a:ext cx="6400800" cy="1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Catches 26 of 34 readmissions (77%), but flags 64% of patients (precision 8%). H0 rejected; an exploratory early-readmission signal.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0789920" y="7990332"/>
            <a:ext cx="6400800" cy="95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Too weak to act on. Post-discharge information may improve readmission prediction.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4954" y="-2334929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7" y="0"/>
                </a:lnTo>
                <a:lnTo>
                  <a:pt x="6081307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9902" y="2624465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7" y="0"/>
                </a:lnTo>
                <a:lnTo>
                  <a:pt x="6081307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01703" y="535943"/>
            <a:ext cx="793499" cy="793499"/>
            <a:chOff x="0" y="0"/>
            <a:chExt cx="1057999" cy="10579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C8102E"/>
            </a:solidFill>
            <a:ln w="254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768096" cy="768096"/>
            <a:chOff x="0" y="0"/>
            <a:chExt cx="1024128" cy="102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02391" y="561346"/>
            <a:ext cx="8694929" cy="768096"/>
            <a:chOff x="0" y="0"/>
            <a:chExt cx="11593238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9323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593238">
                  <a:moveTo>
                    <a:pt x="0" y="0"/>
                  </a:moveTo>
                  <a:lnTo>
                    <a:pt x="11593238" y="0"/>
                  </a:lnTo>
                  <a:lnTo>
                    <a:pt x="1159323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143" r="-68263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59323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5 · DASHBOARD (STREAMLIT)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4378" y="8176250"/>
            <a:ext cx="3394124" cy="548640"/>
            <a:chOff x="0" y="0"/>
            <a:chExt cx="4525498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25498" cy="731520"/>
            </a:xfrm>
            <a:custGeom>
              <a:avLst/>
              <a:gdLst/>
              <a:ahLst/>
              <a:cxnLst/>
              <a:rect r="r" b="b" t="t" l="l"/>
              <a:pathLst>
                <a:path h="731520" w="4525498">
                  <a:moveTo>
                    <a:pt x="0" y="0"/>
                  </a:moveTo>
                  <a:lnTo>
                    <a:pt x="4525498" y="0"/>
                  </a:lnTo>
                  <a:lnTo>
                    <a:pt x="452549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-61644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2549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with the patient cohort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79888" y="8147032"/>
            <a:ext cx="2760100" cy="548640"/>
            <a:chOff x="0" y="0"/>
            <a:chExt cx="3680134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80134" cy="731520"/>
            </a:xfrm>
            <a:custGeom>
              <a:avLst/>
              <a:gdLst/>
              <a:ahLst/>
              <a:cxnLst/>
              <a:rect r="r" b="b" t="t" l="l"/>
              <a:pathLst>
                <a:path h="731520" w="3680134">
                  <a:moveTo>
                    <a:pt x="0" y="0"/>
                  </a:moveTo>
                  <a:lnTo>
                    <a:pt x="3680134" y="0"/>
                  </a:lnTo>
                  <a:lnTo>
                    <a:pt x="368013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-98775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68013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trike="noStrike" u="non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Explore a patient group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63989" y="8013680"/>
            <a:ext cx="2760100" cy="548640"/>
            <a:chOff x="0" y="0"/>
            <a:chExt cx="3680134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80134" cy="731520"/>
            </a:xfrm>
            <a:custGeom>
              <a:avLst/>
              <a:gdLst/>
              <a:ahLst/>
              <a:cxnLst/>
              <a:rect r="r" b="b" t="t" l="l"/>
              <a:pathLst>
                <a:path h="731520" w="3680134">
                  <a:moveTo>
                    <a:pt x="0" y="0"/>
                  </a:moveTo>
                  <a:lnTo>
                    <a:pt x="3680134" y="0"/>
                  </a:lnTo>
                  <a:lnTo>
                    <a:pt x="368013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-98775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68013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trike="noStrike" u="non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Follow the evidence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70014" y="8068354"/>
            <a:ext cx="2823503" cy="548640"/>
            <a:chOff x="0" y="0"/>
            <a:chExt cx="376467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64670" cy="731520"/>
            </a:xfrm>
            <a:custGeom>
              <a:avLst/>
              <a:gdLst/>
              <a:ahLst/>
              <a:cxnLst/>
              <a:rect r="r" b="b" t="t" l="l"/>
              <a:pathLst>
                <a:path h="731520" w="3764670">
                  <a:moveTo>
                    <a:pt x="0" y="0"/>
                  </a:moveTo>
                  <a:lnTo>
                    <a:pt x="3764670" y="0"/>
                  </a:lnTo>
                  <a:lnTo>
                    <a:pt x="376467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-94311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76467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trike="noStrike" u="non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Understand the limits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5904" y="2365630"/>
            <a:ext cx="17049704" cy="5448025"/>
            <a:chOff x="0" y="0"/>
            <a:chExt cx="22732938" cy="726403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2732938" cy="7264033"/>
              <a:chOff x="0" y="0"/>
              <a:chExt cx="2939090" cy="9391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939090" cy="939150"/>
              </a:xfrm>
              <a:custGeom>
                <a:avLst/>
                <a:gdLst/>
                <a:ahLst/>
                <a:cxnLst/>
                <a:rect r="r" b="b" t="t" l="l"/>
                <a:pathLst>
                  <a:path h="939150" w="2939090">
                    <a:moveTo>
                      <a:pt x="0" y="0"/>
                    </a:moveTo>
                    <a:lnTo>
                      <a:pt x="2939090" y="0"/>
                    </a:lnTo>
                    <a:lnTo>
                      <a:pt x="2939090" y="939150"/>
                    </a:lnTo>
                    <a:lnTo>
                      <a:pt x="0" y="939150"/>
                    </a:lnTo>
                    <a:close/>
                  </a:path>
                </a:pathLst>
              </a:custGeom>
              <a:solidFill>
                <a:srgbClr val="F6D49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939090" cy="977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509558" y="458007"/>
              <a:ext cx="21663552" cy="6348019"/>
            </a:xfrm>
            <a:custGeom>
              <a:avLst/>
              <a:gdLst/>
              <a:ahLst/>
              <a:cxnLst/>
              <a:rect r="r" b="b" t="t" l="l"/>
              <a:pathLst>
                <a:path h="6348019" w="21663552">
                  <a:moveTo>
                    <a:pt x="0" y="0"/>
                  </a:moveTo>
                  <a:lnTo>
                    <a:pt x="21663553" y="0"/>
                  </a:lnTo>
                  <a:lnTo>
                    <a:pt x="21663553" y="6348019"/>
                  </a:lnTo>
                  <a:lnTo>
                    <a:pt x="0" y="6348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429" r="0" b="-342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50976" y="1518563"/>
            <a:ext cx="1653323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One das</a:t>
            </a:r>
            <a:r>
              <a:rPr lang="en-US" b="true" sz="4800">
                <a:solidFill>
                  <a:srgbClr val="C8102E"/>
                </a:solidFill>
                <a:latin typeface="Cambria Bold"/>
                <a:ea typeface="Cambria Bold"/>
                <a:cs typeface="Cambria Bold"/>
                <a:sym typeface="Cambria Bold"/>
              </a:rPr>
              <a:t>hboard connects the full analysis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8897" y="8820142"/>
            <a:ext cx="3505085" cy="8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The Overview tab shows readmission and mortality rates for the 2,008 patients in our cleaned dataset.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62877" y="8686790"/>
            <a:ext cx="3394124" cy="110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Use the sidebar to select an age band, gender, or NYHA class. The cohort rates and charts update for that group.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74113" y="8553437"/>
            <a:ext cx="3739851" cy="137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The Descriptive and Prescriptive tabs show the patterns and group comparisons behind our questions. The Predictive tab shows the results for all four admission-time models.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97923" y="8686790"/>
            <a:ext cx="4567684" cy="137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1E2533"/>
                </a:solidFill>
                <a:latin typeface="Calibri (MS)"/>
                <a:ea typeface="Calibri (MS)"/>
                <a:cs typeface="Calibri (MS)"/>
                <a:sym typeface="Calibri (MS)"/>
              </a:rPr>
              <a:t>The model results come from our completed analysis and do not change with the sidebar filters. The dashboard helps us explore findings; it does not calculate a risk score for an individual patient.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63695" y="6878168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7" y="0"/>
                </a:lnTo>
                <a:lnTo>
                  <a:pt x="6081307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6959" y="490343"/>
            <a:ext cx="17134083" cy="9566657"/>
            <a:chOff x="0" y="0"/>
            <a:chExt cx="4512680" cy="2519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12680" cy="2519613"/>
            </a:xfrm>
            <a:custGeom>
              <a:avLst/>
              <a:gdLst/>
              <a:ahLst/>
              <a:cxnLst/>
              <a:rect r="r" b="b" t="t" l="l"/>
              <a:pathLst>
                <a:path h="2519613" w="4512680">
                  <a:moveTo>
                    <a:pt x="15363" y="0"/>
                  </a:moveTo>
                  <a:lnTo>
                    <a:pt x="4497318" y="0"/>
                  </a:lnTo>
                  <a:cubicBezTo>
                    <a:pt x="4501392" y="0"/>
                    <a:pt x="4505300" y="1619"/>
                    <a:pt x="4508181" y="4500"/>
                  </a:cubicBezTo>
                  <a:cubicBezTo>
                    <a:pt x="4511062" y="7381"/>
                    <a:pt x="4512680" y="11288"/>
                    <a:pt x="4512680" y="15363"/>
                  </a:cubicBezTo>
                  <a:lnTo>
                    <a:pt x="4512680" y="2504251"/>
                  </a:lnTo>
                  <a:cubicBezTo>
                    <a:pt x="4512680" y="2508325"/>
                    <a:pt x="4511062" y="2512233"/>
                    <a:pt x="4508181" y="2515114"/>
                  </a:cubicBezTo>
                  <a:cubicBezTo>
                    <a:pt x="4505300" y="2517995"/>
                    <a:pt x="4501392" y="2519613"/>
                    <a:pt x="4497318" y="2519613"/>
                  </a:cubicBezTo>
                  <a:lnTo>
                    <a:pt x="15363" y="2519613"/>
                  </a:lnTo>
                  <a:cubicBezTo>
                    <a:pt x="11288" y="2519613"/>
                    <a:pt x="7381" y="2517995"/>
                    <a:pt x="4500" y="2515114"/>
                  </a:cubicBezTo>
                  <a:cubicBezTo>
                    <a:pt x="1619" y="2512233"/>
                    <a:pt x="0" y="2508325"/>
                    <a:pt x="0" y="2504251"/>
                  </a:cubicBezTo>
                  <a:lnTo>
                    <a:pt x="0" y="15363"/>
                  </a:lnTo>
                  <a:cubicBezTo>
                    <a:pt x="0" y="11288"/>
                    <a:pt x="1619" y="7381"/>
                    <a:pt x="4500" y="4500"/>
                  </a:cubicBezTo>
                  <a:cubicBezTo>
                    <a:pt x="7381" y="1619"/>
                    <a:pt x="11288" y="0"/>
                    <a:pt x="15363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512680" cy="25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354009" y="-2284014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97280" y="731520"/>
            <a:ext cx="16093440" cy="1097280"/>
            <a:chOff x="0" y="0"/>
            <a:chExt cx="2145792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457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 learned, and what comes next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4583" y="2181863"/>
            <a:ext cx="5146043" cy="3591563"/>
            <a:chOff x="0" y="0"/>
            <a:chExt cx="6861391" cy="4788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61428" cy="4788789"/>
            </a:xfrm>
            <a:custGeom>
              <a:avLst/>
              <a:gdLst/>
              <a:ahLst/>
              <a:cxnLst/>
              <a:rect r="r" b="b" t="t" l="l"/>
              <a:pathLst>
                <a:path h="4788789" w="6861428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6664960" y="0"/>
                  </a:lnTo>
                  <a:cubicBezTo>
                    <a:pt x="6773418" y="0"/>
                    <a:pt x="6861428" y="88011"/>
                    <a:pt x="6861428" y="196469"/>
                  </a:cubicBezTo>
                  <a:lnTo>
                    <a:pt x="6861428" y="4592320"/>
                  </a:lnTo>
                  <a:cubicBezTo>
                    <a:pt x="6861428" y="4700778"/>
                    <a:pt x="6773418" y="4788789"/>
                    <a:pt x="6664960" y="4788789"/>
                  </a:cubicBezTo>
                  <a:lnTo>
                    <a:pt x="196469" y="4788789"/>
                  </a:lnTo>
                  <a:cubicBezTo>
                    <a:pt x="88011" y="4788789"/>
                    <a:pt x="0" y="4700778"/>
                    <a:pt x="0" y="4592320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6D49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" y="2414016"/>
            <a:ext cx="4480560" cy="1133856"/>
            <a:chOff x="0" y="0"/>
            <a:chExt cx="5974080" cy="15118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97408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38.5%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63040" y="3573399"/>
            <a:ext cx="4480560" cy="209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8102E"/>
                </a:solidFill>
                <a:latin typeface="Calibri (MS)"/>
                <a:ea typeface="Calibri (MS)"/>
                <a:cs typeface="Calibri (MS)"/>
                <a:sym typeface="Calibri (MS)"/>
              </a:rPr>
              <a:t>come back within 6 months. Readmission, not death, is the everyday burden.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70983" y="2181863"/>
            <a:ext cx="5146043" cy="3591563"/>
            <a:chOff x="0" y="0"/>
            <a:chExt cx="6861391" cy="47887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61428" cy="4788789"/>
            </a:xfrm>
            <a:custGeom>
              <a:avLst/>
              <a:gdLst/>
              <a:ahLst/>
              <a:cxnLst/>
              <a:rect r="r" b="b" t="t" l="l"/>
              <a:pathLst>
                <a:path h="4788789" w="6861428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6664960" y="0"/>
                  </a:lnTo>
                  <a:cubicBezTo>
                    <a:pt x="6773418" y="0"/>
                    <a:pt x="6861428" y="88011"/>
                    <a:pt x="6861428" y="196469"/>
                  </a:cubicBezTo>
                  <a:lnTo>
                    <a:pt x="6861428" y="4592320"/>
                  </a:lnTo>
                  <a:cubicBezTo>
                    <a:pt x="6861428" y="4700778"/>
                    <a:pt x="6773418" y="4788789"/>
                    <a:pt x="6664960" y="4788789"/>
                  </a:cubicBezTo>
                  <a:lnTo>
                    <a:pt x="196469" y="4788789"/>
                  </a:lnTo>
                  <a:cubicBezTo>
                    <a:pt x="88011" y="4788789"/>
                    <a:pt x="0" y="4700778"/>
                    <a:pt x="0" y="4592320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6D49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949440" y="2414016"/>
            <a:ext cx="4480560" cy="1133856"/>
            <a:chOff x="0" y="0"/>
            <a:chExt cx="5974080" cy="15118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97408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41%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949440" y="3573399"/>
            <a:ext cx="4480560" cy="209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8102E"/>
                </a:solidFill>
                <a:latin typeface="Calibri (MS)"/>
                <a:ea typeface="Calibri (MS)"/>
                <a:cs typeface="Calibri (MS)"/>
                <a:sym typeface="Calibri (MS)"/>
              </a:rPr>
              <a:t>readmission for mild patients with weak kidneys, the same as severe patients. Check measured GFR, not the diagnosis flag.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57383" y="2181863"/>
            <a:ext cx="5146043" cy="3591563"/>
            <a:chOff x="0" y="0"/>
            <a:chExt cx="6861391" cy="4788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1428" cy="4788789"/>
            </a:xfrm>
            <a:custGeom>
              <a:avLst/>
              <a:gdLst/>
              <a:ahLst/>
              <a:cxnLst/>
              <a:rect r="r" b="b" t="t" l="l"/>
              <a:pathLst>
                <a:path h="4788789" w="6861428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6664960" y="0"/>
                  </a:lnTo>
                  <a:cubicBezTo>
                    <a:pt x="6773418" y="0"/>
                    <a:pt x="6861428" y="88011"/>
                    <a:pt x="6861428" y="196469"/>
                  </a:cubicBezTo>
                  <a:lnTo>
                    <a:pt x="6861428" y="4592320"/>
                  </a:lnTo>
                  <a:cubicBezTo>
                    <a:pt x="6861428" y="4700778"/>
                    <a:pt x="6773418" y="4788789"/>
                    <a:pt x="6664960" y="4788789"/>
                  </a:cubicBezTo>
                  <a:lnTo>
                    <a:pt x="196469" y="4788789"/>
                  </a:lnTo>
                  <a:cubicBezTo>
                    <a:pt x="88011" y="4788789"/>
                    <a:pt x="0" y="4700778"/>
                    <a:pt x="0" y="4592320"/>
                  </a:cubicBezTo>
                  <a:close/>
                </a:path>
              </a:pathLst>
            </a:custGeom>
            <a:solidFill>
              <a:srgbClr val="F6D49B"/>
            </a:solidFill>
            <a:ln w="25400" cap="sq">
              <a:solidFill>
                <a:srgbClr val="F6D49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435840" y="2414016"/>
            <a:ext cx="4480560" cy="1133856"/>
            <a:chOff x="0" y="0"/>
            <a:chExt cx="5974080" cy="15118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74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97" r="0" b="-269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97408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0.80 vs 0.54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435840" y="3573399"/>
            <a:ext cx="4480560" cy="209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8102E"/>
                </a:solidFill>
                <a:latin typeface="Calibri (MS)"/>
                <a:ea typeface="Calibri (MS)"/>
                <a:cs typeface="Calibri (MS)"/>
                <a:sym typeface="Calibri (MS)"/>
              </a:rPr>
              <a:t>Admission day predicts death well but readmission weakly. The missing signal comes after discharge.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4583" y="6281903"/>
            <a:ext cx="16106137" cy="79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0A01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steps: </a:t>
            </a:r>
            <a:r>
              <a:rPr lang="en-US" sz="2499">
                <a:solidFill>
                  <a:srgbClr val="0A0147"/>
                </a:solidFill>
                <a:latin typeface="Calibri (MS)"/>
                <a:ea typeface="Calibri (MS)"/>
                <a:cs typeface="Calibri (MS)"/>
                <a:sym typeface="Calibri (MS)"/>
              </a:rPr>
              <a:t>add sodium and post-discharge data to the readmission models, test on later patients (train 2016–18, test 2019), and model death and readmission together.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342408" y="6354451"/>
            <a:ext cx="3603184" cy="3519981"/>
            <a:chOff x="0" y="0"/>
            <a:chExt cx="4804245" cy="46933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04245" cy="4693308"/>
            </a:xfrm>
            <a:custGeom>
              <a:avLst/>
              <a:gdLst/>
              <a:ahLst/>
              <a:cxnLst/>
              <a:rect r="r" b="b" t="t" l="l"/>
              <a:pathLst>
                <a:path h="4693308" w="4804245">
                  <a:moveTo>
                    <a:pt x="0" y="0"/>
                  </a:moveTo>
                  <a:lnTo>
                    <a:pt x="4804245" y="0"/>
                  </a:lnTo>
                  <a:lnTo>
                    <a:pt x="4804245" y="4693308"/>
                  </a:lnTo>
                  <a:lnTo>
                    <a:pt x="0" y="46933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798" r="-346644" b="-337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804245" cy="4702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23542" y="8731773"/>
            <a:ext cx="13692858" cy="640080"/>
            <a:chOff x="0" y="0"/>
            <a:chExt cx="18257144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57143" cy="853440"/>
            </a:xfrm>
            <a:custGeom>
              <a:avLst/>
              <a:gdLst/>
              <a:ahLst/>
              <a:cxnLst/>
              <a:rect r="r" b="b" t="t" l="l"/>
              <a:pathLst>
                <a:path h="853440" w="18257143">
                  <a:moveTo>
                    <a:pt x="0" y="0"/>
                  </a:moveTo>
                  <a:lnTo>
                    <a:pt x="18257143" y="0"/>
                  </a:lnTo>
                  <a:lnTo>
                    <a:pt x="18257143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9909" r="-17531" b="-4399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8257144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11 PyInsights: Dhivya Gopinathan · Lakshmi Panchagnula · Shraddha Parakh · Swadhika Selvaraj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DAHWmpKvoR0</dc:identifier>
  <dcterms:modified xsi:type="dcterms:W3CDTF">2011-08-01T06:04:30Z</dcterms:modified>
  <cp:revision>1</cp:revision>
  <dc:title>Team11_PyInsights_PPT</dc:title>
</cp:coreProperties>
</file>